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60" r:id="rId2"/>
    <p:sldId id="261" r:id="rId3"/>
    <p:sldId id="259" r:id="rId4"/>
    <p:sldId id="256" r:id="rId5"/>
    <p:sldId id="258" r:id="rId6"/>
    <p:sldId id="257" r:id="rId7"/>
  </p:sldIdLst>
  <p:sldSz cx="12192000" cy="6858000"/>
  <p:notesSz cx="7104063" cy="102346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29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392" autoAdjust="0"/>
    <p:restoredTop sz="94548" autoAdjust="0"/>
  </p:normalViewPr>
  <p:slideViewPr>
    <p:cSldViewPr snapToGrid="0" showGuides="1">
      <p:cViewPr varScale="1">
        <p:scale>
          <a:sx n="83" d="100"/>
          <a:sy n="83" d="100"/>
        </p:scale>
        <p:origin x="126" y="1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9E7EA6E4-D20E-4F37-A15A-3D9966CC0CE1}" type="datetimeFigureOut">
              <a:rPr kumimoji="1" lang="ja-JP" altLang="en-US" smtClean="0"/>
              <a:t>2026/4/4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9B3FF737-722B-4C3A-9391-2058EAE094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87366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20E30-2FCE-F745-3BFB-E455B5057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173CDE5-34F1-678E-3FA3-E7747FD60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E1E7717-2219-8129-77AE-335077D75D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6CE880A-378F-5AAA-6AB6-6C3A3C023B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FF737-722B-4C3A-9391-2058EAE0944F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7329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5121A-C941-C870-92F9-9A0721247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3A8131C-ED59-84A7-BCBF-0207F7FB6B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34405AF-945A-DBDF-54E8-ABA7A2F4E6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6ABE615-4CF7-E9BC-5673-524861D8FF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FF737-722B-4C3A-9391-2058EAE0944F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64894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FF737-722B-4C3A-9391-2058EAE0944F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80805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5F13E-AE9B-59DE-2B50-8EAEE0B38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8D87150-5AED-524B-A34C-3819F8212C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6E64B43-A9B0-51F8-92FF-D40302E81E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684F816-9CC8-563B-3B9A-1964BBC90B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FF737-722B-4C3A-9391-2058EAE0944F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50060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A3803E-2E31-F42E-BDE8-E004CA18F6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EC99601-FF81-C1C0-7D9E-4F24619053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27590E8-4C97-6AEE-BFFF-85D3D4A33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16783-A5DD-41E9-A062-337D84B192A0}" type="datetimeFigureOut">
              <a:rPr kumimoji="1" lang="ja-JP" altLang="en-US" smtClean="0"/>
              <a:t>2026/4/4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EC92EFA-3D3D-3C7A-C9BE-F37F7C73A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E3FB59A-E749-9298-B058-6C55F27C5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10047-09DB-4F30-A4B5-BAE9429225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6245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AFBD68-ADFA-8F02-0193-9D1E97B75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F823F65-E698-5A81-F48B-7C9E1D7E8E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947A4DD-CC25-7A97-9B12-839099243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16783-A5DD-41E9-A062-337D84B192A0}" type="datetimeFigureOut">
              <a:rPr kumimoji="1" lang="ja-JP" altLang="en-US" smtClean="0"/>
              <a:t>2026/4/4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0546CF5-C466-A4C0-FF3C-47F27E0917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2510D7E-FABA-5E88-58B7-1B436FF59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10047-09DB-4F30-A4B5-BAE9429225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89747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C4BD57-11DB-D96E-D17A-E1BFC8D5B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4854D43-2858-7BBD-31D4-7594656E4B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F561AD2-193A-E708-DAF1-6A8003B133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16783-A5DD-41E9-A062-337D84B192A0}" type="datetimeFigureOut">
              <a:rPr kumimoji="1" lang="ja-JP" altLang="en-US" smtClean="0"/>
              <a:t>2026/4/4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1EF5A6-DAC5-6C19-0DFC-E2C03ACF0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5746D26-ADE0-ED63-BD6B-BEACBA660D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10047-09DB-4F30-A4B5-BAE9429225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8619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C10381-3732-0EE2-AD33-45FFD989A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E2748DF-518E-F43A-BB82-69781BA429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8E4F485-52E7-8A93-82BC-E2806B03AA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C0F151C-753E-0C9B-67CA-D490D82B2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16783-A5DD-41E9-A062-337D84B192A0}" type="datetimeFigureOut">
              <a:rPr kumimoji="1" lang="ja-JP" altLang="en-US" smtClean="0"/>
              <a:t>2026/4/4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CA427D0-4C7C-E44E-D00B-CCC1FDAE0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597614D-EA24-B54D-26BB-9954725F8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10047-09DB-4F30-A4B5-BAE9429225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671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B59CAC-1EC7-0D40-34AB-EBE553910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E27F6AC-DEBE-D459-5145-10EE6A1411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7D0895C-E579-40BE-A301-DDC4508C53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4BBD7A1-55CE-B96E-3703-423702EAE6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1E8C9A2-57C6-2B97-25BA-1746B39AF4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36971235-2DD1-FB8F-BF82-F0CCE1AF9A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16783-A5DD-41E9-A062-337D84B192A0}" type="datetimeFigureOut">
              <a:rPr kumimoji="1" lang="ja-JP" altLang="en-US" smtClean="0"/>
              <a:t>2026/4/4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D84DFCC-7BBD-B3A5-90D9-30AEFEA752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41F9D46-C767-311B-FC02-578393CBB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10047-09DB-4F30-A4B5-BAE9429225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49404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6FEB5A-BC23-5DA5-CD60-6E0EB338E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010C7F3-CC8B-2D07-9E16-B9D8B150B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16783-A5DD-41E9-A062-337D84B192A0}" type="datetimeFigureOut">
              <a:rPr kumimoji="1" lang="ja-JP" altLang="en-US" smtClean="0"/>
              <a:t>2026/4/4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721BB8F-87FD-7BD3-1641-8FB08C50DE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493D610-A223-039B-98D9-968B6026C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10047-09DB-4F30-A4B5-BAE9429225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4078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1504778-187E-EA97-106D-1DD3BBCFE3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16783-A5DD-41E9-A062-337D84B192A0}" type="datetimeFigureOut">
              <a:rPr kumimoji="1" lang="ja-JP" altLang="en-US" smtClean="0"/>
              <a:t>2026/4/4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1432921-FA1B-8441-3883-5213D110EA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30DEF73-BFBF-5E9B-ADE9-D553EB914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10047-09DB-4F30-A4B5-BAE9429225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8958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EC3349-B105-CB5A-133E-0DC4BEB9A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15E850A-A2DA-C9DC-CACB-3C78184019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4779F9D-3F8F-4703-70B6-4BA56B9754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C26C83A-0129-AC84-6FB0-0501FBCFA6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16783-A5DD-41E9-A062-337D84B192A0}" type="datetimeFigureOut">
              <a:rPr kumimoji="1" lang="ja-JP" altLang="en-US" smtClean="0"/>
              <a:t>2026/4/4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D671BD2-5129-6176-4416-000214A8B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FB26EAA-52B6-2949-3305-89CE2B0F4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10047-09DB-4F30-A4B5-BAE9429225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641265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E69B485-B042-8C1A-18FC-DCBA2DD8CC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5370D16-D046-C87D-EC9B-F4AE2FAC07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EDFAD54-EBC0-ECCA-1C59-4CE7C5D3CE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D6F96F7-653C-AF37-B1BD-D2688E4FC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16783-A5DD-41E9-A062-337D84B192A0}" type="datetimeFigureOut">
              <a:rPr kumimoji="1" lang="ja-JP" altLang="en-US" smtClean="0"/>
              <a:t>2026/4/4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FDC44AA-9A8B-F74A-F3EE-D3EC7295B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026393B-A6CB-2353-2873-6D2B4CD77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10047-09DB-4F30-A4B5-BAE9429225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2283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5878A5-3BA6-4F24-B7B7-07C2ABCEF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AADEBCF-B3A9-9D80-B4F0-8DF6AB1C8E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55B31F7-AE04-FFCE-2651-3E150F3EA6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16783-A5DD-41E9-A062-337D84B192A0}" type="datetimeFigureOut">
              <a:rPr kumimoji="1" lang="ja-JP" altLang="en-US" smtClean="0"/>
              <a:t>2026/4/4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EC19BB7-C18E-10D8-8D47-80910BE4FC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482558C-D2FF-EB7A-06F8-89A04E925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10047-09DB-4F30-A4B5-BAE9429225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18349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BCB4C7E-EC30-236E-8D0A-23BC61593F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E4B2040-FE60-E1BA-4693-871502F58B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A2B588C-DFDB-9781-520C-336E7A306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16783-A5DD-41E9-A062-337D84B192A0}" type="datetimeFigureOut">
              <a:rPr kumimoji="1" lang="ja-JP" altLang="en-US" smtClean="0"/>
              <a:t>2026/4/4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2B2F2DD-69BD-CCF0-C598-94A6F94CF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1B0EA8-6879-B08D-AB0B-BA26F6AEA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10047-09DB-4F30-A4B5-BAE9429225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31870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1DC9E69-4C22-222A-1116-ED03E0C80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7C39073-B3CC-8F14-F06F-AA24E14BE0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9445CB-5190-9D8C-497F-DA8E8FA264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316783-A5DD-41E9-A062-337D84B192A0}" type="datetimeFigureOut">
              <a:rPr kumimoji="1" lang="ja-JP" altLang="en-US" smtClean="0"/>
              <a:t>2026/4/4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014AEDC-AAAF-FA4B-7474-DCD57D8A3A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E1BEDF0-BD08-0323-D339-1E0DB8440B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110047-09DB-4F30-A4B5-BAE9429225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27793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svg"/><Relationship Id="rId5" Type="http://schemas.openxmlformats.org/officeDocument/2006/relationships/image" Target="../media/image1.sv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svg"/><Relationship Id="rId5" Type="http://schemas.openxmlformats.org/officeDocument/2006/relationships/image" Target="../media/image1.svg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85064-BD72-D9DA-C419-35AEC1186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四角形: 角を丸くする 309">
            <a:extLst>
              <a:ext uri="{FF2B5EF4-FFF2-40B4-BE49-F238E27FC236}">
                <a16:creationId xmlns:a16="http://schemas.microsoft.com/office/drawing/2014/main" id="{4A9CFFAB-1E54-2AEA-E61F-2E1C6F2232C1}"/>
              </a:ext>
            </a:extLst>
          </p:cNvPr>
          <p:cNvSpPr/>
          <p:nvPr/>
        </p:nvSpPr>
        <p:spPr>
          <a:xfrm>
            <a:off x="572600" y="1719470"/>
            <a:ext cx="11223869" cy="3568147"/>
          </a:xfrm>
          <a:prstGeom prst="roundRect">
            <a:avLst>
              <a:gd name="adj" fmla="val 5380"/>
            </a:avLst>
          </a:prstGeom>
          <a:solidFill>
            <a:schemeClr val="bg2"/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8" name="四角形: 角を丸くする 317">
            <a:extLst>
              <a:ext uri="{FF2B5EF4-FFF2-40B4-BE49-F238E27FC236}">
                <a16:creationId xmlns:a16="http://schemas.microsoft.com/office/drawing/2014/main" id="{BC1A9A06-3757-0E70-FC07-6CE2C8D9D489}"/>
              </a:ext>
            </a:extLst>
          </p:cNvPr>
          <p:cNvSpPr/>
          <p:nvPr/>
        </p:nvSpPr>
        <p:spPr>
          <a:xfrm>
            <a:off x="2982597" y="3418979"/>
            <a:ext cx="8802404" cy="1849205"/>
          </a:xfrm>
          <a:prstGeom prst="roundRect">
            <a:avLst>
              <a:gd name="adj" fmla="val 5380"/>
            </a:avLst>
          </a:prstGeom>
          <a:solidFill>
            <a:schemeClr val="bg2"/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9" name="四角形: 角を丸くする 338">
            <a:extLst>
              <a:ext uri="{FF2B5EF4-FFF2-40B4-BE49-F238E27FC236}">
                <a16:creationId xmlns:a16="http://schemas.microsoft.com/office/drawing/2014/main" id="{D4559381-C012-2FF3-31D8-1CC07076C780}"/>
              </a:ext>
            </a:extLst>
          </p:cNvPr>
          <p:cNvSpPr/>
          <p:nvPr/>
        </p:nvSpPr>
        <p:spPr>
          <a:xfrm>
            <a:off x="3099387" y="3776977"/>
            <a:ext cx="2845430" cy="1168144"/>
          </a:xfrm>
          <a:prstGeom prst="roundRect">
            <a:avLst>
              <a:gd name="adj" fmla="val 5380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2" name="四角形: 角を丸くする 311">
            <a:extLst>
              <a:ext uri="{FF2B5EF4-FFF2-40B4-BE49-F238E27FC236}">
                <a16:creationId xmlns:a16="http://schemas.microsoft.com/office/drawing/2014/main" id="{A2501EF3-356B-7E47-095A-B8E1A20CEF76}"/>
              </a:ext>
            </a:extLst>
          </p:cNvPr>
          <p:cNvSpPr/>
          <p:nvPr/>
        </p:nvSpPr>
        <p:spPr>
          <a:xfrm>
            <a:off x="7885253" y="2054087"/>
            <a:ext cx="1696727" cy="1001628"/>
          </a:xfrm>
          <a:prstGeom prst="roundRect">
            <a:avLst>
              <a:gd name="adj" fmla="val 5380"/>
            </a:avLst>
          </a:prstGeom>
          <a:solidFill>
            <a:schemeClr val="bg1"/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3" name="テキスト ボックス 162">
            <a:extLst>
              <a:ext uri="{FF2B5EF4-FFF2-40B4-BE49-F238E27FC236}">
                <a16:creationId xmlns:a16="http://schemas.microsoft.com/office/drawing/2014/main" id="{AF6D0E78-26DD-558F-339B-E0A6FF811C05}"/>
              </a:ext>
            </a:extLst>
          </p:cNvPr>
          <p:cNvSpPr txBox="1"/>
          <p:nvPr/>
        </p:nvSpPr>
        <p:spPr>
          <a:xfrm>
            <a:off x="1373970" y="432419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891F7D8-C4CF-963B-64CD-B64B5F9D29D9}"/>
              </a:ext>
            </a:extLst>
          </p:cNvPr>
          <p:cNvSpPr txBox="1"/>
          <p:nvPr/>
        </p:nvSpPr>
        <p:spPr>
          <a:xfrm>
            <a:off x="5190731" y="5494341"/>
            <a:ext cx="3571306" cy="253916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Meiryo UI" panose="020B0604030504040204" pitchFamily="50" charset="-128"/>
                <a:ea typeface="Meiryo UI" panose="020B0604030504040204" pitchFamily="50" charset="-128"/>
              </a:rPr>
              <a:t>Internal networks for physical OSs 10.77.x.0/24  </a:t>
            </a:r>
            <a:endParaRPr kumimoji="1" lang="ja-JP" altLang="en-US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3F38E59-5B6C-F0BB-74A7-13CE6D42BE69}"/>
              </a:ext>
            </a:extLst>
          </p:cNvPr>
          <p:cNvSpPr txBox="1"/>
          <p:nvPr/>
        </p:nvSpPr>
        <p:spPr>
          <a:xfrm>
            <a:off x="8937974" y="4039870"/>
            <a:ext cx="2520964" cy="46166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Internal network for gest OSs</a:t>
            </a:r>
          </a:p>
          <a:p>
            <a:r>
              <a: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10.7.x.0/24 </a:t>
            </a:r>
            <a:endParaRPr kumimoji="1" lang="ja-JP" alt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77" name="直線コネクタ 176">
            <a:extLst>
              <a:ext uri="{FF2B5EF4-FFF2-40B4-BE49-F238E27FC236}">
                <a16:creationId xmlns:a16="http://schemas.microsoft.com/office/drawing/2014/main" id="{65CF4FC9-44DB-756C-7B93-CB6F13CD12A9}"/>
              </a:ext>
            </a:extLst>
          </p:cNvPr>
          <p:cNvCxnSpPr>
            <a:cxnSpLocks/>
          </p:cNvCxnSpPr>
          <p:nvPr/>
        </p:nvCxnSpPr>
        <p:spPr>
          <a:xfrm>
            <a:off x="3787588" y="1075169"/>
            <a:ext cx="0" cy="1662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直線コネクタ 265">
            <a:extLst>
              <a:ext uri="{FF2B5EF4-FFF2-40B4-BE49-F238E27FC236}">
                <a16:creationId xmlns:a16="http://schemas.microsoft.com/office/drawing/2014/main" id="{4B47363F-03C0-8A37-829E-E9EB1DF3C492}"/>
              </a:ext>
            </a:extLst>
          </p:cNvPr>
          <p:cNvCxnSpPr>
            <a:cxnSpLocks/>
          </p:cNvCxnSpPr>
          <p:nvPr/>
        </p:nvCxnSpPr>
        <p:spPr>
          <a:xfrm>
            <a:off x="3834593" y="1422195"/>
            <a:ext cx="0" cy="68439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2" name="四角形: 角を丸くする 271">
            <a:extLst>
              <a:ext uri="{FF2B5EF4-FFF2-40B4-BE49-F238E27FC236}">
                <a16:creationId xmlns:a16="http://schemas.microsoft.com/office/drawing/2014/main" id="{4B8C72B8-5199-AC12-3932-3BE4664536C6}"/>
              </a:ext>
            </a:extLst>
          </p:cNvPr>
          <p:cNvSpPr/>
          <p:nvPr/>
        </p:nvSpPr>
        <p:spPr>
          <a:xfrm>
            <a:off x="3283644" y="4189734"/>
            <a:ext cx="2497456" cy="21134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VS Code Server(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backend</a:t>
            </a:r>
            <a:r>
              <a:rPr kumimoji="1"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3" name="四角形: 角を丸くする 272">
            <a:extLst>
              <a:ext uri="{FF2B5EF4-FFF2-40B4-BE49-F238E27FC236}">
                <a16:creationId xmlns:a16="http://schemas.microsoft.com/office/drawing/2014/main" id="{C26113C6-8438-F276-4351-A48932177A1A}"/>
              </a:ext>
            </a:extLst>
          </p:cNvPr>
          <p:cNvSpPr/>
          <p:nvPr/>
        </p:nvSpPr>
        <p:spPr>
          <a:xfrm>
            <a:off x="3237346" y="4459491"/>
            <a:ext cx="2497456" cy="41062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セキュリティ診断ツール</a:t>
            </a:r>
          </a:p>
        </p:txBody>
      </p:sp>
      <p:sp>
        <p:nvSpPr>
          <p:cNvPr id="309" name="テキスト ボックス 308">
            <a:extLst>
              <a:ext uri="{FF2B5EF4-FFF2-40B4-BE49-F238E27FC236}">
                <a16:creationId xmlns:a16="http://schemas.microsoft.com/office/drawing/2014/main" id="{4B34AAC5-CB32-F998-1C8A-F7A54C979CC9}"/>
              </a:ext>
            </a:extLst>
          </p:cNvPr>
          <p:cNvSpPr txBox="1"/>
          <p:nvPr/>
        </p:nvSpPr>
        <p:spPr>
          <a:xfrm>
            <a:off x="6251589" y="2190786"/>
            <a:ext cx="21170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WSL vEthernet</a:t>
            </a:r>
          </a:p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172.30.208.1</a:t>
            </a:r>
            <a:endParaRPr lang="ja-JP" alt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1" name="四角形: 角を丸くする 310">
            <a:extLst>
              <a:ext uri="{FF2B5EF4-FFF2-40B4-BE49-F238E27FC236}">
                <a16:creationId xmlns:a16="http://schemas.microsoft.com/office/drawing/2014/main" id="{C6F3BE67-F257-836C-A28C-B67AE95F282C}"/>
              </a:ext>
            </a:extLst>
          </p:cNvPr>
          <p:cNvSpPr/>
          <p:nvPr/>
        </p:nvSpPr>
        <p:spPr>
          <a:xfrm>
            <a:off x="10067006" y="1833079"/>
            <a:ext cx="1528066" cy="338555"/>
          </a:xfrm>
          <a:prstGeom prst="roundRect">
            <a:avLst>
              <a:gd name="adj" fmla="val 20385"/>
            </a:avLst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ln/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Windows11</a:t>
            </a:r>
            <a:endParaRPr lang="ja-JP" altLang="en-US" dirty="0">
              <a:ln/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313" name="四角形: 角を丸くする 312">
            <a:extLst>
              <a:ext uri="{FF2B5EF4-FFF2-40B4-BE49-F238E27FC236}">
                <a16:creationId xmlns:a16="http://schemas.microsoft.com/office/drawing/2014/main" id="{4438E0C3-76DF-E6B3-4DCF-FD38F642A58D}"/>
              </a:ext>
            </a:extLst>
          </p:cNvPr>
          <p:cNvSpPr/>
          <p:nvPr/>
        </p:nvSpPr>
        <p:spPr>
          <a:xfrm>
            <a:off x="8746960" y="2125012"/>
            <a:ext cx="773438" cy="239666"/>
          </a:xfrm>
          <a:prstGeom prst="roundRect">
            <a:avLst>
              <a:gd name="adj" fmla="val 20385"/>
            </a:avLst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ln/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WSL</a:t>
            </a:r>
            <a:endParaRPr lang="ja-JP" altLang="en-US" sz="1400" dirty="0">
              <a:ln/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314" name="四角形: 角を丸くする 313">
            <a:extLst>
              <a:ext uri="{FF2B5EF4-FFF2-40B4-BE49-F238E27FC236}">
                <a16:creationId xmlns:a16="http://schemas.microsoft.com/office/drawing/2014/main" id="{721266B8-B04F-5072-E220-1A4E8D59D45D}"/>
              </a:ext>
            </a:extLst>
          </p:cNvPr>
          <p:cNvSpPr/>
          <p:nvPr/>
        </p:nvSpPr>
        <p:spPr>
          <a:xfrm>
            <a:off x="10424992" y="3412345"/>
            <a:ext cx="1126090" cy="269046"/>
          </a:xfrm>
          <a:prstGeom prst="roundRect">
            <a:avLst>
              <a:gd name="adj" fmla="val 20385"/>
            </a:avLst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ln/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VirtualBox</a:t>
            </a:r>
            <a:endParaRPr lang="ja-JP" altLang="en-US" sz="1400" dirty="0">
              <a:ln/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340" name="四角形: 角を丸くする 339">
            <a:extLst>
              <a:ext uri="{FF2B5EF4-FFF2-40B4-BE49-F238E27FC236}">
                <a16:creationId xmlns:a16="http://schemas.microsoft.com/office/drawing/2014/main" id="{C65CD44B-73B0-A845-7A70-E9D53E7A1A37}"/>
              </a:ext>
            </a:extLst>
          </p:cNvPr>
          <p:cNvSpPr/>
          <p:nvPr/>
        </p:nvSpPr>
        <p:spPr>
          <a:xfrm>
            <a:off x="3698649" y="3886315"/>
            <a:ext cx="1126090" cy="269046"/>
          </a:xfrm>
          <a:prstGeom prst="roundRect">
            <a:avLst>
              <a:gd name="adj" fmla="val 20385"/>
            </a:avLst>
          </a:prstGeom>
          <a:solidFill>
            <a:srgbClr val="DF29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ln/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kali Linux</a:t>
            </a:r>
            <a:endParaRPr lang="ja-JP" altLang="en-US" sz="1400" dirty="0">
              <a:ln/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cxnSp>
        <p:nvCxnSpPr>
          <p:cNvPr id="342" name="直線コネクタ 341">
            <a:extLst>
              <a:ext uri="{FF2B5EF4-FFF2-40B4-BE49-F238E27FC236}">
                <a16:creationId xmlns:a16="http://schemas.microsoft.com/office/drawing/2014/main" id="{85E695FE-AD37-4FB6-5BF3-4C4177773021}"/>
              </a:ext>
            </a:extLst>
          </p:cNvPr>
          <p:cNvCxnSpPr>
            <a:cxnSpLocks/>
          </p:cNvCxnSpPr>
          <p:nvPr/>
        </p:nvCxnSpPr>
        <p:spPr>
          <a:xfrm>
            <a:off x="2125903" y="5867043"/>
            <a:ext cx="659704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直線コネクタ 365">
            <a:extLst>
              <a:ext uri="{FF2B5EF4-FFF2-40B4-BE49-F238E27FC236}">
                <a16:creationId xmlns:a16="http://schemas.microsoft.com/office/drawing/2014/main" id="{040CFC1A-5716-0412-80F6-7D411BFE4522}"/>
              </a:ext>
            </a:extLst>
          </p:cNvPr>
          <p:cNvCxnSpPr>
            <a:cxnSpLocks/>
          </p:cNvCxnSpPr>
          <p:nvPr/>
        </p:nvCxnSpPr>
        <p:spPr>
          <a:xfrm>
            <a:off x="3778199" y="4943651"/>
            <a:ext cx="0" cy="937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0" name="テキスト ボックス 369">
            <a:extLst>
              <a:ext uri="{FF2B5EF4-FFF2-40B4-BE49-F238E27FC236}">
                <a16:creationId xmlns:a16="http://schemas.microsoft.com/office/drawing/2014/main" id="{BC438268-E6CB-8850-A1AD-4B24C6DA1076}"/>
              </a:ext>
            </a:extLst>
          </p:cNvPr>
          <p:cNvSpPr txBox="1"/>
          <p:nvPr/>
        </p:nvSpPr>
        <p:spPr>
          <a:xfrm>
            <a:off x="3585244" y="4952332"/>
            <a:ext cx="40540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Bridge 10.77.0.3 (change according to the lab.) 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cxnSp>
        <p:nvCxnSpPr>
          <p:cNvPr id="375" name="直線コネクタ 374">
            <a:extLst>
              <a:ext uri="{FF2B5EF4-FFF2-40B4-BE49-F238E27FC236}">
                <a16:creationId xmlns:a16="http://schemas.microsoft.com/office/drawing/2014/main" id="{C822B478-7D37-0A40-0E05-66AD4CB45794}"/>
              </a:ext>
            </a:extLst>
          </p:cNvPr>
          <p:cNvCxnSpPr>
            <a:cxnSpLocks/>
          </p:cNvCxnSpPr>
          <p:nvPr/>
        </p:nvCxnSpPr>
        <p:spPr>
          <a:xfrm>
            <a:off x="3828387" y="2963119"/>
            <a:ext cx="0" cy="9444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9" name="テキスト ボックス 378">
            <a:extLst>
              <a:ext uri="{FF2B5EF4-FFF2-40B4-BE49-F238E27FC236}">
                <a16:creationId xmlns:a16="http://schemas.microsoft.com/office/drawing/2014/main" id="{38CD84F4-2F98-0402-8952-4BC9A3AC86B9}"/>
              </a:ext>
            </a:extLst>
          </p:cNvPr>
          <p:cNvSpPr txBox="1"/>
          <p:nvPr/>
        </p:nvSpPr>
        <p:spPr>
          <a:xfrm>
            <a:off x="3649094" y="3411247"/>
            <a:ext cx="130813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1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Host Only </a:t>
            </a:r>
          </a:p>
          <a:p>
            <a:pPr algn="ctr"/>
            <a:r>
              <a:rPr lang="en-US" altLang="ja-JP" sz="11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192.168.56.7 </a:t>
            </a:r>
            <a:endParaRPr lang="ja-JP" altLang="en-US" sz="11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cxnSp>
        <p:nvCxnSpPr>
          <p:cNvPr id="380" name="直線コネクタ 379">
            <a:extLst>
              <a:ext uri="{FF2B5EF4-FFF2-40B4-BE49-F238E27FC236}">
                <a16:creationId xmlns:a16="http://schemas.microsoft.com/office/drawing/2014/main" id="{A3317E04-F6A0-10DF-8267-22A9BDDDEA17}"/>
              </a:ext>
            </a:extLst>
          </p:cNvPr>
          <p:cNvCxnSpPr>
            <a:cxnSpLocks/>
          </p:cNvCxnSpPr>
          <p:nvPr/>
        </p:nvCxnSpPr>
        <p:spPr>
          <a:xfrm>
            <a:off x="2354513" y="5290891"/>
            <a:ext cx="0" cy="5903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5" name="テキスト ボックス 384">
            <a:extLst>
              <a:ext uri="{FF2B5EF4-FFF2-40B4-BE49-F238E27FC236}">
                <a16:creationId xmlns:a16="http://schemas.microsoft.com/office/drawing/2014/main" id="{7979D18A-2F3E-C6FF-C052-24E83F17CB9F}"/>
              </a:ext>
            </a:extLst>
          </p:cNvPr>
          <p:cNvSpPr txBox="1"/>
          <p:nvPr/>
        </p:nvSpPr>
        <p:spPr>
          <a:xfrm>
            <a:off x="154787" y="5065714"/>
            <a:ext cx="20284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EtherNet</a:t>
            </a:r>
          </a:p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10.77.0.1</a:t>
            </a:r>
          </a:p>
        </p:txBody>
      </p:sp>
      <p:cxnSp>
        <p:nvCxnSpPr>
          <p:cNvPr id="386" name="直線コネクタ 385">
            <a:extLst>
              <a:ext uri="{FF2B5EF4-FFF2-40B4-BE49-F238E27FC236}">
                <a16:creationId xmlns:a16="http://schemas.microsoft.com/office/drawing/2014/main" id="{43077E38-F49F-36FB-3F07-C9694781FFC7}"/>
              </a:ext>
            </a:extLst>
          </p:cNvPr>
          <p:cNvCxnSpPr>
            <a:cxnSpLocks/>
          </p:cNvCxnSpPr>
          <p:nvPr/>
        </p:nvCxnSpPr>
        <p:spPr>
          <a:xfrm>
            <a:off x="5319989" y="2763469"/>
            <a:ext cx="25348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7" name="四角形: 角を丸くする 386">
            <a:extLst>
              <a:ext uri="{FF2B5EF4-FFF2-40B4-BE49-F238E27FC236}">
                <a16:creationId xmlns:a16="http://schemas.microsoft.com/office/drawing/2014/main" id="{69C6E4EB-6F35-C326-CE7E-A6B43E3F3E9A}"/>
              </a:ext>
            </a:extLst>
          </p:cNvPr>
          <p:cNvSpPr/>
          <p:nvPr/>
        </p:nvSpPr>
        <p:spPr>
          <a:xfrm>
            <a:off x="3099387" y="2129742"/>
            <a:ext cx="2266900" cy="821802"/>
          </a:xfrm>
          <a:prstGeom prst="roundRect">
            <a:avLst>
              <a:gd name="adj" fmla="val 538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397" name="グラフィックス 396" descr="サーバー 単色塗りつぶし">
            <a:extLst>
              <a:ext uri="{FF2B5EF4-FFF2-40B4-BE49-F238E27FC236}">
                <a16:creationId xmlns:a16="http://schemas.microsoft.com/office/drawing/2014/main" id="{B3408FBF-4D56-2536-BF8C-3D01E9F09B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85716" y="1195754"/>
            <a:ext cx="426712" cy="426712"/>
          </a:xfrm>
          <a:prstGeom prst="rect">
            <a:avLst/>
          </a:prstGeom>
        </p:spPr>
      </p:pic>
      <p:sp>
        <p:nvSpPr>
          <p:cNvPr id="400" name="テキスト ボックス 399">
            <a:extLst>
              <a:ext uri="{FF2B5EF4-FFF2-40B4-BE49-F238E27FC236}">
                <a16:creationId xmlns:a16="http://schemas.microsoft.com/office/drawing/2014/main" id="{47C579EE-7B5B-AC8E-586D-46C92D29BD7C}"/>
              </a:ext>
            </a:extLst>
          </p:cNvPr>
          <p:cNvSpPr txBox="1"/>
          <p:nvPr/>
        </p:nvSpPr>
        <p:spPr>
          <a:xfrm>
            <a:off x="4123376" y="698087"/>
            <a:ext cx="220787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Google/Microsoft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pic>
        <p:nvPicPr>
          <p:cNvPr id="402" name="グラフィックス 401" descr="コンピューター 単色塗りつぶし">
            <a:extLst>
              <a:ext uri="{FF2B5EF4-FFF2-40B4-BE49-F238E27FC236}">
                <a16:creationId xmlns:a16="http://schemas.microsoft.com/office/drawing/2014/main" id="{F4054970-E93C-553F-F18E-18D0569B94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24711" y="2444018"/>
            <a:ext cx="637886" cy="637886"/>
          </a:xfrm>
          <a:prstGeom prst="rect">
            <a:avLst/>
          </a:prstGeom>
        </p:spPr>
      </p:pic>
      <p:sp>
        <p:nvSpPr>
          <p:cNvPr id="404" name="テキスト ボックス 403">
            <a:extLst>
              <a:ext uri="{FF2B5EF4-FFF2-40B4-BE49-F238E27FC236}">
                <a16:creationId xmlns:a16="http://schemas.microsoft.com/office/drawing/2014/main" id="{9615F2F1-2142-30C6-B1FA-5B1104A4B8F0}"/>
              </a:ext>
            </a:extLst>
          </p:cNvPr>
          <p:cNvSpPr txBox="1"/>
          <p:nvPr/>
        </p:nvSpPr>
        <p:spPr>
          <a:xfrm>
            <a:off x="7406470" y="2519095"/>
            <a:ext cx="31813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Ubuntu</a:t>
            </a:r>
          </a:p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TinyProxy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405" name="テキスト ボックス 404">
            <a:extLst>
              <a:ext uri="{FF2B5EF4-FFF2-40B4-BE49-F238E27FC236}">
                <a16:creationId xmlns:a16="http://schemas.microsoft.com/office/drawing/2014/main" id="{063996A7-3261-5C0B-6876-C1E46DAA1CE4}"/>
              </a:ext>
            </a:extLst>
          </p:cNvPr>
          <p:cNvSpPr txBox="1"/>
          <p:nvPr/>
        </p:nvSpPr>
        <p:spPr>
          <a:xfrm>
            <a:off x="2862448" y="2211888"/>
            <a:ext cx="21170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Windows</a:t>
            </a:r>
          </a:p>
          <a:p>
            <a:pPr algn="ctr"/>
            <a:r>
              <a: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仮想ネットワーク</a:t>
            </a:r>
            <a:endParaRPr lang="en-US" altLang="ja-JP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スタック</a:t>
            </a:r>
          </a:p>
        </p:txBody>
      </p:sp>
      <p:sp>
        <p:nvSpPr>
          <p:cNvPr id="406" name="四角形: 角を丸くする 405">
            <a:extLst>
              <a:ext uri="{FF2B5EF4-FFF2-40B4-BE49-F238E27FC236}">
                <a16:creationId xmlns:a16="http://schemas.microsoft.com/office/drawing/2014/main" id="{1CD7DD53-72AD-3A76-F3B4-D56B25DB12FA}"/>
              </a:ext>
            </a:extLst>
          </p:cNvPr>
          <p:cNvSpPr/>
          <p:nvPr/>
        </p:nvSpPr>
        <p:spPr>
          <a:xfrm>
            <a:off x="798653" y="2225041"/>
            <a:ext cx="1224287" cy="655320"/>
          </a:xfrm>
          <a:prstGeom prst="roundRect">
            <a:avLst>
              <a:gd name="adj" fmla="val 5380"/>
            </a:avLst>
          </a:prstGeom>
          <a:solidFill>
            <a:schemeClr val="bg1"/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7" name="テキスト ボックス 406">
            <a:extLst>
              <a:ext uri="{FF2B5EF4-FFF2-40B4-BE49-F238E27FC236}">
                <a16:creationId xmlns:a16="http://schemas.microsoft.com/office/drawing/2014/main" id="{1F570580-5BB6-5E77-9846-C5A5D309C66B}"/>
              </a:ext>
            </a:extLst>
          </p:cNvPr>
          <p:cNvSpPr txBox="1"/>
          <p:nvPr/>
        </p:nvSpPr>
        <p:spPr>
          <a:xfrm>
            <a:off x="742916" y="2373666"/>
            <a:ext cx="13398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VSCode</a:t>
            </a:r>
          </a:p>
          <a:p>
            <a:pPr algn="ctr"/>
            <a:r>
              <a: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(client)</a:t>
            </a:r>
            <a:endParaRPr lang="ja-JP" alt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408" name="直線コネクタ 407">
            <a:extLst>
              <a:ext uri="{FF2B5EF4-FFF2-40B4-BE49-F238E27FC236}">
                <a16:creationId xmlns:a16="http://schemas.microsoft.com/office/drawing/2014/main" id="{21B62EF7-D951-39EF-BA57-FC163A286372}"/>
              </a:ext>
            </a:extLst>
          </p:cNvPr>
          <p:cNvCxnSpPr>
            <a:cxnSpLocks/>
          </p:cNvCxnSpPr>
          <p:nvPr/>
        </p:nvCxnSpPr>
        <p:spPr>
          <a:xfrm>
            <a:off x="2022940" y="2542113"/>
            <a:ext cx="10972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0" name="テキスト ボックス 409">
            <a:extLst>
              <a:ext uri="{FF2B5EF4-FFF2-40B4-BE49-F238E27FC236}">
                <a16:creationId xmlns:a16="http://schemas.microsoft.com/office/drawing/2014/main" id="{D60001D4-A730-F267-63C0-F9C6D4DC36E2}"/>
              </a:ext>
            </a:extLst>
          </p:cNvPr>
          <p:cNvSpPr txBox="1"/>
          <p:nvPr/>
        </p:nvSpPr>
        <p:spPr>
          <a:xfrm>
            <a:off x="1817103" y="3137077"/>
            <a:ext cx="800197" cy="276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SSH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cxnSp>
        <p:nvCxnSpPr>
          <p:cNvPr id="412" name="直線コネクタ 411">
            <a:extLst>
              <a:ext uri="{FF2B5EF4-FFF2-40B4-BE49-F238E27FC236}">
                <a16:creationId xmlns:a16="http://schemas.microsoft.com/office/drawing/2014/main" id="{A253CB00-FBA4-71FE-3F34-E30CF61F44E3}"/>
              </a:ext>
            </a:extLst>
          </p:cNvPr>
          <p:cNvCxnSpPr>
            <a:cxnSpLocks/>
          </p:cNvCxnSpPr>
          <p:nvPr/>
        </p:nvCxnSpPr>
        <p:spPr>
          <a:xfrm>
            <a:off x="2022940" y="2823376"/>
            <a:ext cx="1615440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直線コネクタ 412">
            <a:extLst>
              <a:ext uri="{FF2B5EF4-FFF2-40B4-BE49-F238E27FC236}">
                <a16:creationId xmlns:a16="http://schemas.microsoft.com/office/drawing/2014/main" id="{63E1B606-FA54-CF22-1BB8-DDE7C6045078}"/>
              </a:ext>
            </a:extLst>
          </p:cNvPr>
          <p:cNvCxnSpPr>
            <a:cxnSpLocks/>
          </p:cNvCxnSpPr>
          <p:nvPr/>
        </p:nvCxnSpPr>
        <p:spPr>
          <a:xfrm>
            <a:off x="3623140" y="2804160"/>
            <a:ext cx="0" cy="1377696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直線コネクタ 414">
            <a:extLst>
              <a:ext uri="{FF2B5EF4-FFF2-40B4-BE49-F238E27FC236}">
                <a16:creationId xmlns:a16="http://schemas.microsoft.com/office/drawing/2014/main" id="{94923130-D017-E79A-42E1-7E9685E78224}"/>
              </a:ext>
            </a:extLst>
          </p:cNvPr>
          <p:cNvCxnSpPr>
            <a:cxnSpLocks/>
          </p:cNvCxnSpPr>
          <p:nvPr/>
        </p:nvCxnSpPr>
        <p:spPr>
          <a:xfrm>
            <a:off x="5019388" y="2840736"/>
            <a:ext cx="0" cy="1316736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直線コネクタ 415">
            <a:extLst>
              <a:ext uri="{FF2B5EF4-FFF2-40B4-BE49-F238E27FC236}">
                <a16:creationId xmlns:a16="http://schemas.microsoft.com/office/drawing/2014/main" id="{4EB3D938-E44A-74BF-8DC1-3D301370A5B6}"/>
              </a:ext>
            </a:extLst>
          </p:cNvPr>
          <p:cNvCxnSpPr>
            <a:cxnSpLocks/>
          </p:cNvCxnSpPr>
          <p:nvPr/>
        </p:nvCxnSpPr>
        <p:spPr>
          <a:xfrm flipH="1">
            <a:off x="4992624" y="2865120"/>
            <a:ext cx="2882476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直線コネクタ 417">
            <a:extLst>
              <a:ext uri="{FF2B5EF4-FFF2-40B4-BE49-F238E27FC236}">
                <a16:creationId xmlns:a16="http://schemas.microsoft.com/office/drawing/2014/main" id="{2DFBBA70-BEBB-97A9-FCB3-6F22738BC35F}"/>
              </a:ext>
            </a:extLst>
          </p:cNvPr>
          <p:cNvCxnSpPr>
            <a:cxnSpLocks/>
          </p:cNvCxnSpPr>
          <p:nvPr/>
        </p:nvCxnSpPr>
        <p:spPr>
          <a:xfrm flipH="1">
            <a:off x="5009322" y="2651760"/>
            <a:ext cx="2865778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直線コネクタ 418">
            <a:extLst>
              <a:ext uri="{FF2B5EF4-FFF2-40B4-BE49-F238E27FC236}">
                <a16:creationId xmlns:a16="http://schemas.microsoft.com/office/drawing/2014/main" id="{4808B9DC-50FF-9B66-3828-B19E46490158}"/>
              </a:ext>
            </a:extLst>
          </p:cNvPr>
          <p:cNvCxnSpPr>
            <a:cxnSpLocks/>
          </p:cNvCxnSpPr>
          <p:nvPr/>
        </p:nvCxnSpPr>
        <p:spPr>
          <a:xfrm>
            <a:off x="5033170" y="954593"/>
            <a:ext cx="0" cy="1697167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テキスト ボックス 306">
            <a:extLst>
              <a:ext uri="{FF2B5EF4-FFF2-40B4-BE49-F238E27FC236}">
                <a16:creationId xmlns:a16="http://schemas.microsoft.com/office/drawing/2014/main" id="{2CBFE6B1-BE4D-7A94-F8BB-7C3A36141502}"/>
              </a:ext>
            </a:extLst>
          </p:cNvPr>
          <p:cNvSpPr txBox="1"/>
          <p:nvPr/>
        </p:nvSpPr>
        <p:spPr>
          <a:xfrm>
            <a:off x="2068557" y="1202565"/>
            <a:ext cx="18380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Home Router</a:t>
            </a:r>
          </a:p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192.168.12.1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395" name="テキスト ボックス 394">
            <a:extLst>
              <a:ext uri="{FF2B5EF4-FFF2-40B4-BE49-F238E27FC236}">
                <a16:creationId xmlns:a16="http://schemas.microsoft.com/office/drawing/2014/main" id="{B882FB9C-1348-100C-0A04-DE38482C3BF5}"/>
              </a:ext>
            </a:extLst>
          </p:cNvPr>
          <p:cNvSpPr txBox="1"/>
          <p:nvPr/>
        </p:nvSpPr>
        <p:spPr>
          <a:xfrm>
            <a:off x="3780273" y="1712019"/>
            <a:ext cx="13105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WiFi</a:t>
            </a:r>
          </a:p>
          <a:p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192.168.12.32 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391" name="テキスト ボックス 390">
            <a:extLst>
              <a:ext uri="{FF2B5EF4-FFF2-40B4-BE49-F238E27FC236}">
                <a16:creationId xmlns:a16="http://schemas.microsoft.com/office/drawing/2014/main" id="{40BEB1FB-1CE1-2DB1-7B00-A87492F645B5}"/>
              </a:ext>
            </a:extLst>
          </p:cNvPr>
          <p:cNvSpPr txBox="1"/>
          <p:nvPr/>
        </p:nvSpPr>
        <p:spPr>
          <a:xfrm>
            <a:off x="3688106" y="2934268"/>
            <a:ext cx="1364077" cy="459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Host Only </a:t>
            </a:r>
          </a:p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192.168.56.1 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423" name="テキスト ボックス 422">
            <a:extLst>
              <a:ext uri="{FF2B5EF4-FFF2-40B4-BE49-F238E27FC236}">
                <a16:creationId xmlns:a16="http://schemas.microsoft.com/office/drawing/2014/main" id="{F4DA9913-2B2E-2844-3EC6-3701698F8DF8}"/>
              </a:ext>
            </a:extLst>
          </p:cNvPr>
          <p:cNvSpPr txBox="1"/>
          <p:nvPr/>
        </p:nvSpPr>
        <p:spPr>
          <a:xfrm>
            <a:off x="1992459" y="2322068"/>
            <a:ext cx="15184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localhost</a:t>
            </a:r>
          </a:p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(OS</a:t>
            </a:r>
            <a:r>
              <a:rPr lang="ja-JP" altLang="en-US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内部</a:t>
            </a:r>
          </a:p>
        </p:txBody>
      </p:sp>
      <p:pic>
        <p:nvPicPr>
          <p:cNvPr id="245" name="グラフィックス 244" descr="雲 枠線">
            <a:extLst>
              <a:ext uri="{FF2B5EF4-FFF2-40B4-BE49-F238E27FC236}">
                <a16:creationId xmlns:a16="http://schemas.microsoft.com/office/drawing/2014/main" id="{FBE078CE-4379-D6F3-2F2F-CF7C4E73FD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04460" y="398926"/>
            <a:ext cx="1625120" cy="902482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CF3DCF7-18B0-7A29-F815-2E15AD5D3BA6}"/>
              </a:ext>
            </a:extLst>
          </p:cNvPr>
          <p:cNvSpPr txBox="1"/>
          <p:nvPr/>
        </p:nvSpPr>
        <p:spPr>
          <a:xfrm>
            <a:off x="1688632" y="136098"/>
            <a:ext cx="82301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The configuration diagram of Security Lab. powered by AI agent: Antigravity</a:t>
            </a:r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13DFA7E9-2984-AF69-516C-50CFD98A0A48}"/>
              </a:ext>
            </a:extLst>
          </p:cNvPr>
          <p:cNvSpPr txBox="1"/>
          <p:nvPr/>
        </p:nvSpPr>
        <p:spPr>
          <a:xfrm>
            <a:off x="6065135" y="681127"/>
            <a:ext cx="5733478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Users can instruct the AI agent to perform a vulnerability assessment using Kali Linux tools against targets on an internal network.</a:t>
            </a:r>
          </a:p>
          <a:p>
            <a:r>
              <a: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This architecture is designed to prevent any diagnostic packets originating from Kali Linux from unintentionally leaking to the internet.</a:t>
            </a:r>
            <a:endParaRPr lang="en-US" altLang="ja-JP" sz="1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2A95FC5-0B88-0623-CF54-FDA27EF3C000}"/>
              </a:ext>
            </a:extLst>
          </p:cNvPr>
          <p:cNvSpPr txBox="1"/>
          <p:nvPr/>
        </p:nvSpPr>
        <p:spPr>
          <a:xfrm>
            <a:off x="5971066" y="3985790"/>
            <a:ext cx="33118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200" dirty="0" err="1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EtherNet</a:t>
            </a:r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/IP lab. 	10.7.1.0/24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D28ABBF-5630-E915-C407-C58737016387}"/>
              </a:ext>
            </a:extLst>
          </p:cNvPr>
          <p:cNvSpPr txBox="1"/>
          <p:nvPr/>
        </p:nvSpPr>
        <p:spPr>
          <a:xfrm>
            <a:off x="5971066" y="4308922"/>
            <a:ext cx="321923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Modbus lab. 	10.7.2.0/24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4A27A23-C880-E627-4B96-4909A97C8EF2}"/>
              </a:ext>
            </a:extLst>
          </p:cNvPr>
          <p:cNvSpPr txBox="1"/>
          <p:nvPr/>
        </p:nvSpPr>
        <p:spPr>
          <a:xfrm>
            <a:off x="5971066" y="4590567"/>
            <a:ext cx="31034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200" dirty="0" err="1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Bacnet</a:t>
            </a:r>
            <a:r>
              <a:rPr lang="ja-JP" altLang="en-US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　</a:t>
            </a:r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lab. 	10.7.3.0/24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F28C89C-583E-81DB-8CB8-A9B50FFA1A3A}"/>
              </a:ext>
            </a:extLst>
          </p:cNvPr>
          <p:cNvSpPr txBox="1"/>
          <p:nvPr/>
        </p:nvSpPr>
        <p:spPr>
          <a:xfrm>
            <a:off x="5971066" y="3684849"/>
            <a:ext cx="313821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Vuln. test lab. 	10.7.1.0/24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86A0ACDA-A041-316D-318B-E310A174BA98}"/>
              </a:ext>
            </a:extLst>
          </p:cNvPr>
          <p:cNvGrpSpPr/>
          <p:nvPr/>
        </p:nvGrpSpPr>
        <p:grpSpPr>
          <a:xfrm>
            <a:off x="5945022" y="3934961"/>
            <a:ext cx="2932760" cy="891253"/>
            <a:chOff x="5945022" y="3934961"/>
            <a:chExt cx="2712841" cy="891253"/>
          </a:xfrm>
        </p:grpSpPr>
        <p:cxnSp>
          <p:nvCxnSpPr>
            <p:cNvPr id="356" name="直線コネクタ 355">
              <a:extLst>
                <a:ext uri="{FF2B5EF4-FFF2-40B4-BE49-F238E27FC236}">
                  <a16:creationId xmlns:a16="http://schemas.microsoft.com/office/drawing/2014/main" id="{00FAA6A1-A621-C622-9B53-0320D551A299}"/>
                </a:ext>
              </a:extLst>
            </p:cNvPr>
            <p:cNvCxnSpPr>
              <a:cxnSpLocks/>
            </p:cNvCxnSpPr>
            <p:nvPr/>
          </p:nvCxnSpPr>
          <p:spPr>
            <a:xfrm>
              <a:off x="5945022" y="3934961"/>
              <a:ext cx="268969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F2DB9060-1A96-83E8-4F0A-7D6D3514FEDD}"/>
                </a:ext>
              </a:extLst>
            </p:cNvPr>
            <p:cNvCxnSpPr>
              <a:cxnSpLocks/>
            </p:cNvCxnSpPr>
            <p:nvPr/>
          </p:nvCxnSpPr>
          <p:spPr>
            <a:xfrm>
              <a:off x="5945022" y="4559997"/>
              <a:ext cx="268969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コネクタ 17">
              <a:extLst>
                <a:ext uri="{FF2B5EF4-FFF2-40B4-BE49-F238E27FC236}">
                  <a16:creationId xmlns:a16="http://schemas.microsoft.com/office/drawing/2014/main" id="{69DD9D0A-CB90-D392-E4D5-87351B144859}"/>
                </a:ext>
              </a:extLst>
            </p:cNvPr>
            <p:cNvCxnSpPr>
              <a:cxnSpLocks/>
            </p:cNvCxnSpPr>
            <p:nvPr/>
          </p:nvCxnSpPr>
          <p:spPr>
            <a:xfrm>
              <a:off x="5968171" y="4826214"/>
              <a:ext cx="268969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コネクタ 19">
              <a:extLst>
                <a:ext uri="{FF2B5EF4-FFF2-40B4-BE49-F238E27FC236}">
                  <a16:creationId xmlns:a16="http://schemas.microsoft.com/office/drawing/2014/main" id="{F2785C78-9277-A13A-6C19-EDF0B9F6F211}"/>
                </a:ext>
              </a:extLst>
            </p:cNvPr>
            <p:cNvCxnSpPr>
              <a:cxnSpLocks/>
            </p:cNvCxnSpPr>
            <p:nvPr/>
          </p:nvCxnSpPr>
          <p:spPr>
            <a:xfrm>
              <a:off x="5945022" y="4224331"/>
              <a:ext cx="268969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2E2CDDD2-5AF7-7F81-BA9B-CE745B5F1FFB}"/>
              </a:ext>
            </a:extLst>
          </p:cNvPr>
          <p:cNvSpPr txBox="1"/>
          <p:nvPr/>
        </p:nvSpPr>
        <p:spPr>
          <a:xfrm>
            <a:off x="8750919" y="5932270"/>
            <a:ext cx="33118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200" dirty="0" err="1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EtherNet</a:t>
            </a:r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/IP lab. 	10.77.1.0/24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0FCBCBE4-5AC3-EE52-252E-48EFC5E220EF}"/>
              </a:ext>
            </a:extLst>
          </p:cNvPr>
          <p:cNvSpPr txBox="1"/>
          <p:nvPr/>
        </p:nvSpPr>
        <p:spPr>
          <a:xfrm>
            <a:off x="8739344" y="6116502"/>
            <a:ext cx="321923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Modbus lab. 	10.77.2.0/24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D2859A3B-60E1-4B57-961E-42F0560794C8}"/>
              </a:ext>
            </a:extLst>
          </p:cNvPr>
          <p:cNvSpPr txBox="1"/>
          <p:nvPr/>
        </p:nvSpPr>
        <p:spPr>
          <a:xfrm>
            <a:off x="8739344" y="6317122"/>
            <a:ext cx="31034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200" dirty="0" err="1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Bacnet</a:t>
            </a:r>
            <a:r>
              <a:rPr lang="ja-JP" altLang="en-US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　</a:t>
            </a:r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lab. 	10.77.3.0/24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F085E96F-CA89-398C-3A11-FEA51E4B1B16}"/>
              </a:ext>
            </a:extLst>
          </p:cNvPr>
          <p:cNvSpPr txBox="1"/>
          <p:nvPr/>
        </p:nvSpPr>
        <p:spPr>
          <a:xfrm>
            <a:off x="8750919" y="5723929"/>
            <a:ext cx="313821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Vuln. test lab. 	10.77.1.0/24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6993AEE0-DD47-B10E-1FD8-ED3A47A7C767}"/>
              </a:ext>
            </a:extLst>
          </p:cNvPr>
          <p:cNvCxnSpPr>
            <a:cxnSpLocks/>
          </p:cNvCxnSpPr>
          <p:nvPr/>
        </p:nvCxnSpPr>
        <p:spPr>
          <a:xfrm>
            <a:off x="2125903" y="6075387"/>
            <a:ext cx="6597042" cy="0"/>
          </a:xfrm>
          <a:prstGeom prst="line">
            <a:avLst/>
          </a:prstGeom>
          <a:ln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C974D702-E75F-8D23-CF26-F7D494438F0F}"/>
              </a:ext>
            </a:extLst>
          </p:cNvPr>
          <p:cNvCxnSpPr>
            <a:cxnSpLocks/>
          </p:cNvCxnSpPr>
          <p:nvPr/>
        </p:nvCxnSpPr>
        <p:spPr>
          <a:xfrm>
            <a:off x="2125903" y="6272157"/>
            <a:ext cx="6597042" cy="0"/>
          </a:xfrm>
          <a:prstGeom prst="line">
            <a:avLst/>
          </a:prstGeom>
          <a:ln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012E9125-9580-31A2-5F04-06CEFA06582D}"/>
              </a:ext>
            </a:extLst>
          </p:cNvPr>
          <p:cNvCxnSpPr>
            <a:cxnSpLocks/>
          </p:cNvCxnSpPr>
          <p:nvPr/>
        </p:nvCxnSpPr>
        <p:spPr>
          <a:xfrm>
            <a:off x="2125903" y="6468926"/>
            <a:ext cx="6597042" cy="0"/>
          </a:xfrm>
          <a:prstGeom prst="line">
            <a:avLst/>
          </a:prstGeom>
          <a:ln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B400E6F1-BB76-2825-D1B7-89CAC418DA6C}"/>
              </a:ext>
            </a:extLst>
          </p:cNvPr>
          <p:cNvSpPr txBox="1"/>
          <p:nvPr/>
        </p:nvSpPr>
        <p:spPr>
          <a:xfrm>
            <a:off x="196768" y="5457992"/>
            <a:ext cx="218761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5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(change according to the lab.) </a:t>
            </a:r>
            <a:endParaRPr lang="ja-JP" altLang="en-US" sz="1050" dirty="0"/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26A11EF2-A95F-CB43-8828-F339FF3997A8}"/>
              </a:ext>
            </a:extLst>
          </p:cNvPr>
          <p:cNvSpPr txBox="1"/>
          <p:nvPr/>
        </p:nvSpPr>
        <p:spPr>
          <a:xfrm>
            <a:off x="3541853" y="6619540"/>
            <a:ext cx="285847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100" b="1" dirty="0" err="1">
                <a:latin typeface="Meiryo UI" panose="020B0604030504040204" pitchFamily="50" charset="-128"/>
                <a:ea typeface="Meiryo UI" panose="020B0604030504040204" pitchFamily="50" charset="-128"/>
              </a:rPr>
              <a:t>Seched</a:t>
            </a:r>
            <a:r>
              <a:rPr kumimoji="1" lang="en-US" altLang="ja-JP" sz="1100" b="1" dirty="0">
                <a:latin typeface="Meiryo UI" panose="020B0604030504040204" pitchFamily="50" charset="-128"/>
                <a:ea typeface="Meiryo UI" panose="020B0604030504040204" pitchFamily="50" charset="-128"/>
              </a:rPr>
              <a:t> Insights  </a:t>
            </a:r>
            <a:r>
              <a:rPr kumimoji="1" lang="en-US" altLang="ja-JP" sz="1100" b="1" dirty="0" err="1">
                <a:latin typeface="Meiryo UI" panose="020B0604030504040204" pitchFamily="50" charset="-128"/>
                <a:ea typeface="Meiryo UI" panose="020B0604030504040204" pitchFamily="50" charset="-128"/>
              </a:rPr>
              <a:t>AllRight</a:t>
            </a:r>
            <a:r>
              <a:rPr kumimoji="1" lang="en-US" altLang="ja-JP" sz="1100" b="1" dirty="0">
                <a:latin typeface="Meiryo UI" panose="020B0604030504040204" pitchFamily="50" charset="-128"/>
                <a:ea typeface="Meiryo UI" panose="020B0604030504040204" pitchFamily="50" charset="-128"/>
              </a:rPr>
              <a:t> Reserved.</a:t>
            </a:r>
            <a:endParaRPr kumimoji="1" lang="ja-JP" altLang="en-US" sz="1100" b="1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27584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C9DAC21-0EFB-80E6-E5DC-74547EDFB4E3}"/>
              </a:ext>
            </a:extLst>
          </p:cNvPr>
          <p:cNvSpPr txBox="1"/>
          <p:nvPr/>
        </p:nvSpPr>
        <p:spPr>
          <a:xfrm>
            <a:off x="5393803" y="3402957"/>
            <a:ext cx="1172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Appendix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63237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DD33F-9B82-C307-31E5-F3B0794CD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四角形: 角を丸くする 309">
            <a:extLst>
              <a:ext uri="{FF2B5EF4-FFF2-40B4-BE49-F238E27FC236}">
                <a16:creationId xmlns:a16="http://schemas.microsoft.com/office/drawing/2014/main" id="{933A0FE0-FAB2-BA34-2B1E-95621CDD4901}"/>
              </a:ext>
            </a:extLst>
          </p:cNvPr>
          <p:cNvSpPr/>
          <p:nvPr/>
        </p:nvSpPr>
        <p:spPr>
          <a:xfrm>
            <a:off x="572600" y="1719470"/>
            <a:ext cx="11223869" cy="3568147"/>
          </a:xfrm>
          <a:prstGeom prst="roundRect">
            <a:avLst>
              <a:gd name="adj" fmla="val 5380"/>
            </a:avLst>
          </a:prstGeom>
          <a:solidFill>
            <a:schemeClr val="bg2"/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8" name="四角形: 角を丸くする 317">
            <a:extLst>
              <a:ext uri="{FF2B5EF4-FFF2-40B4-BE49-F238E27FC236}">
                <a16:creationId xmlns:a16="http://schemas.microsoft.com/office/drawing/2014/main" id="{6201B09D-3DDF-D608-8174-4B0BC2520F7D}"/>
              </a:ext>
            </a:extLst>
          </p:cNvPr>
          <p:cNvSpPr/>
          <p:nvPr/>
        </p:nvSpPr>
        <p:spPr>
          <a:xfrm>
            <a:off x="2982597" y="3418979"/>
            <a:ext cx="8802404" cy="1849205"/>
          </a:xfrm>
          <a:prstGeom prst="roundRect">
            <a:avLst>
              <a:gd name="adj" fmla="val 5380"/>
            </a:avLst>
          </a:prstGeom>
          <a:solidFill>
            <a:schemeClr val="bg2"/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9" name="四角形: 角を丸くする 338">
            <a:extLst>
              <a:ext uri="{FF2B5EF4-FFF2-40B4-BE49-F238E27FC236}">
                <a16:creationId xmlns:a16="http://schemas.microsoft.com/office/drawing/2014/main" id="{B6F2B82E-D497-3B3E-1014-31F8C02F5A0F}"/>
              </a:ext>
            </a:extLst>
          </p:cNvPr>
          <p:cNvSpPr/>
          <p:nvPr/>
        </p:nvSpPr>
        <p:spPr>
          <a:xfrm>
            <a:off x="3099387" y="3776977"/>
            <a:ext cx="2845430" cy="1168144"/>
          </a:xfrm>
          <a:prstGeom prst="roundRect">
            <a:avLst>
              <a:gd name="adj" fmla="val 5380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2" name="四角形: 角を丸くする 311">
            <a:extLst>
              <a:ext uri="{FF2B5EF4-FFF2-40B4-BE49-F238E27FC236}">
                <a16:creationId xmlns:a16="http://schemas.microsoft.com/office/drawing/2014/main" id="{B7E7702E-D1DB-B6AE-76C3-D0B1600E2128}"/>
              </a:ext>
            </a:extLst>
          </p:cNvPr>
          <p:cNvSpPr/>
          <p:nvPr/>
        </p:nvSpPr>
        <p:spPr>
          <a:xfrm>
            <a:off x="7885253" y="2054087"/>
            <a:ext cx="1696727" cy="1001628"/>
          </a:xfrm>
          <a:prstGeom prst="roundRect">
            <a:avLst>
              <a:gd name="adj" fmla="val 5380"/>
            </a:avLst>
          </a:prstGeom>
          <a:solidFill>
            <a:schemeClr val="bg1"/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3" name="テキスト ボックス 162">
            <a:extLst>
              <a:ext uri="{FF2B5EF4-FFF2-40B4-BE49-F238E27FC236}">
                <a16:creationId xmlns:a16="http://schemas.microsoft.com/office/drawing/2014/main" id="{C4DB054A-E0D3-D042-07B3-EA2D9E4B5D51}"/>
              </a:ext>
            </a:extLst>
          </p:cNvPr>
          <p:cNvSpPr txBox="1"/>
          <p:nvPr/>
        </p:nvSpPr>
        <p:spPr>
          <a:xfrm>
            <a:off x="1373970" y="432419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71F077A-78F8-9945-7483-5D8D4573DA1F}"/>
              </a:ext>
            </a:extLst>
          </p:cNvPr>
          <p:cNvSpPr txBox="1"/>
          <p:nvPr/>
        </p:nvSpPr>
        <p:spPr>
          <a:xfrm>
            <a:off x="7991804" y="5529065"/>
            <a:ext cx="3393951" cy="253916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Meiryo UI" panose="020B0604030504040204" pitchFamily="50" charset="-128"/>
                <a:ea typeface="Meiryo UI" panose="020B0604030504040204" pitchFamily="50" charset="-128"/>
              </a:rPr>
              <a:t>l</a:t>
            </a:r>
            <a:r>
              <a:rPr lang="ja-JP" altLang="en-US" sz="1050" dirty="0">
                <a:latin typeface="Meiryo UI" panose="020B0604030504040204" pitchFamily="50" charset="-128"/>
                <a:ea typeface="Meiryo UI" panose="020B0604030504040204" pitchFamily="50" charset="-128"/>
              </a:rPr>
              <a:t>検証用物理</a:t>
            </a:r>
            <a:r>
              <a:rPr lang="en-US" altLang="ja-JP" sz="1050" dirty="0">
                <a:latin typeface="Meiryo UI" panose="020B0604030504040204" pitchFamily="50" charset="-128"/>
                <a:ea typeface="Meiryo UI" panose="020B0604030504040204" pitchFamily="50" charset="-128"/>
              </a:rPr>
              <a:t>PC</a:t>
            </a:r>
            <a:r>
              <a:rPr lang="ja-JP" altLang="en-US" sz="1050" dirty="0">
                <a:latin typeface="Meiryo UI" panose="020B0604030504040204" pitchFamily="50" charset="-128"/>
                <a:ea typeface="Meiryo UI" panose="020B0604030504040204" pitchFamily="50" charset="-128"/>
              </a:rPr>
              <a:t>接続用　内部ネットワーク </a:t>
            </a:r>
            <a:r>
              <a:rPr lang="en-US" altLang="ja-JP" sz="1050" dirty="0">
                <a:latin typeface="Meiryo UI" panose="020B0604030504040204" pitchFamily="50" charset="-128"/>
                <a:ea typeface="Meiryo UI" panose="020B0604030504040204" pitchFamily="50" charset="-128"/>
              </a:rPr>
              <a:t>10.77.x.0/24  </a:t>
            </a:r>
            <a:endParaRPr kumimoji="1" lang="ja-JP" altLang="en-US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B607A40-6334-8BC2-6010-7D9498F1CB8A}"/>
              </a:ext>
            </a:extLst>
          </p:cNvPr>
          <p:cNvSpPr txBox="1"/>
          <p:nvPr/>
        </p:nvSpPr>
        <p:spPr>
          <a:xfrm>
            <a:off x="8729628" y="4526007"/>
            <a:ext cx="2833107" cy="46166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仮想</a:t>
            </a:r>
            <a:r>
              <a: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PC</a:t>
            </a:r>
            <a:r>
              <a: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接続用　内部ネットワーク</a:t>
            </a:r>
            <a:endParaRPr lang="en-US" altLang="ja-JP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10.7.x.0/24 </a:t>
            </a:r>
            <a:endParaRPr kumimoji="1" lang="ja-JP" alt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C4271934-A5E7-FA0A-CBA6-5EBF426889E3}"/>
              </a:ext>
            </a:extLst>
          </p:cNvPr>
          <p:cNvCxnSpPr>
            <a:cxnSpLocks/>
          </p:cNvCxnSpPr>
          <p:nvPr/>
        </p:nvCxnSpPr>
        <p:spPr>
          <a:xfrm>
            <a:off x="11301497" y="5774146"/>
            <a:ext cx="0" cy="1865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テキスト ボックス 127">
            <a:extLst>
              <a:ext uri="{FF2B5EF4-FFF2-40B4-BE49-F238E27FC236}">
                <a16:creationId xmlns:a16="http://schemas.microsoft.com/office/drawing/2014/main" id="{7764C52C-5FEF-4057-CD98-338226FE6DFA}"/>
              </a:ext>
            </a:extLst>
          </p:cNvPr>
          <p:cNvSpPr txBox="1"/>
          <p:nvPr/>
        </p:nvSpPr>
        <p:spPr>
          <a:xfrm>
            <a:off x="9411832" y="5997912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…</a:t>
            </a:r>
            <a:endParaRPr kumimoji="1" lang="ja-JP" alt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77" name="直線コネクタ 176">
            <a:extLst>
              <a:ext uri="{FF2B5EF4-FFF2-40B4-BE49-F238E27FC236}">
                <a16:creationId xmlns:a16="http://schemas.microsoft.com/office/drawing/2014/main" id="{B75567D8-768D-0A55-D7E4-035E21DC742F}"/>
              </a:ext>
            </a:extLst>
          </p:cNvPr>
          <p:cNvCxnSpPr>
            <a:cxnSpLocks/>
          </p:cNvCxnSpPr>
          <p:nvPr/>
        </p:nvCxnSpPr>
        <p:spPr>
          <a:xfrm>
            <a:off x="3787588" y="1075169"/>
            <a:ext cx="0" cy="1662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直線コネクタ 265">
            <a:extLst>
              <a:ext uri="{FF2B5EF4-FFF2-40B4-BE49-F238E27FC236}">
                <a16:creationId xmlns:a16="http://schemas.microsoft.com/office/drawing/2014/main" id="{C51DD124-8C7E-1E3C-80EC-27D94B2B583B}"/>
              </a:ext>
            </a:extLst>
          </p:cNvPr>
          <p:cNvCxnSpPr>
            <a:cxnSpLocks/>
          </p:cNvCxnSpPr>
          <p:nvPr/>
        </p:nvCxnSpPr>
        <p:spPr>
          <a:xfrm>
            <a:off x="3834593" y="1422195"/>
            <a:ext cx="0" cy="68439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2" name="四角形: 角を丸くする 271">
            <a:extLst>
              <a:ext uri="{FF2B5EF4-FFF2-40B4-BE49-F238E27FC236}">
                <a16:creationId xmlns:a16="http://schemas.microsoft.com/office/drawing/2014/main" id="{209354E4-B874-C490-0E9F-CB9033B9180F}"/>
              </a:ext>
            </a:extLst>
          </p:cNvPr>
          <p:cNvSpPr/>
          <p:nvPr/>
        </p:nvSpPr>
        <p:spPr>
          <a:xfrm>
            <a:off x="3283644" y="4189734"/>
            <a:ext cx="2497456" cy="21134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VS Code Server(</a:t>
            </a:r>
            <a:r>
              <a: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バックエンド</a:t>
            </a:r>
            <a:r>
              <a:rPr kumimoji="1"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3" name="四角形: 角を丸くする 272">
            <a:extLst>
              <a:ext uri="{FF2B5EF4-FFF2-40B4-BE49-F238E27FC236}">
                <a16:creationId xmlns:a16="http://schemas.microsoft.com/office/drawing/2014/main" id="{97C346C1-D63F-88DB-E086-6D274C7CFB9B}"/>
              </a:ext>
            </a:extLst>
          </p:cNvPr>
          <p:cNvSpPr/>
          <p:nvPr/>
        </p:nvSpPr>
        <p:spPr>
          <a:xfrm>
            <a:off x="3237346" y="4459491"/>
            <a:ext cx="2497456" cy="41062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セキュリティ診断ツール</a:t>
            </a:r>
          </a:p>
        </p:txBody>
      </p:sp>
      <p:sp>
        <p:nvSpPr>
          <p:cNvPr id="309" name="テキスト ボックス 308">
            <a:extLst>
              <a:ext uri="{FF2B5EF4-FFF2-40B4-BE49-F238E27FC236}">
                <a16:creationId xmlns:a16="http://schemas.microsoft.com/office/drawing/2014/main" id="{7CF3087A-95A0-2B27-F5AA-A9D8537EF519}"/>
              </a:ext>
            </a:extLst>
          </p:cNvPr>
          <p:cNvSpPr txBox="1"/>
          <p:nvPr/>
        </p:nvSpPr>
        <p:spPr>
          <a:xfrm>
            <a:off x="6251589" y="2190786"/>
            <a:ext cx="21170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WSL vEthernet</a:t>
            </a:r>
          </a:p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172.30.208.1</a:t>
            </a:r>
            <a:endParaRPr lang="ja-JP" alt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1" name="四角形: 角を丸くする 310">
            <a:extLst>
              <a:ext uri="{FF2B5EF4-FFF2-40B4-BE49-F238E27FC236}">
                <a16:creationId xmlns:a16="http://schemas.microsoft.com/office/drawing/2014/main" id="{822695E9-9574-87BC-D47F-F808EA88C8EF}"/>
              </a:ext>
            </a:extLst>
          </p:cNvPr>
          <p:cNvSpPr/>
          <p:nvPr/>
        </p:nvSpPr>
        <p:spPr>
          <a:xfrm>
            <a:off x="10067006" y="1833079"/>
            <a:ext cx="1528066" cy="338555"/>
          </a:xfrm>
          <a:prstGeom prst="roundRect">
            <a:avLst>
              <a:gd name="adj" fmla="val 20385"/>
            </a:avLst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ln/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Windows11</a:t>
            </a:r>
            <a:endParaRPr lang="ja-JP" altLang="en-US" dirty="0">
              <a:ln/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313" name="四角形: 角を丸くする 312">
            <a:extLst>
              <a:ext uri="{FF2B5EF4-FFF2-40B4-BE49-F238E27FC236}">
                <a16:creationId xmlns:a16="http://schemas.microsoft.com/office/drawing/2014/main" id="{C18DDBDA-C5F8-59E7-933B-D6EC33956732}"/>
              </a:ext>
            </a:extLst>
          </p:cNvPr>
          <p:cNvSpPr/>
          <p:nvPr/>
        </p:nvSpPr>
        <p:spPr>
          <a:xfrm>
            <a:off x="8746960" y="2125012"/>
            <a:ext cx="773438" cy="239666"/>
          </a:xfrm>
          <a:prstGeom prst="roundRect">
            <a:avLst>
              <a:gd name="adj" fmla="val 20385"/>
            </a:avLst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ln/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WSL</a:t>
            </a:r>
            <a:endParaRPr lang="ja-JP" altLang="en-US" sz="1400" dirty="0">
              <a:ln/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314" name="四角形: 角を丸くする 313">
            <a:extLst>
              <a:ext uri="{FF2B5EF4-FFF2-40B4-BE49-F238E27FC236}">
                <a16:creationId xmlns:a16="http://schemas.microsoft.com/office/drawing/2014/main" id="{9557E603-9455-B742-DF4C-ABA1005A345B}"/>
              </a:ext>
            </a:extLst>
          </p:cNvPr>
          <p:cNvSpPr/>
          <p:nvPr/>
        </p:nvSpPr>
        <p:spPr>
          <a:xfrm>
            <a:off x="10424992" y="3412345"/>
            <a:ext cx="1126090" cy="269046"/>
          </a:xfrm>
          <a:prstGeom prst="roundRect">
            <a:avLst>
              <a:gd name="adj" fmla="val 20385"/>
            </a:avLst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ln/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VirtualBox</a:t>
            </a:r>
            <a:endParaRPr lang="ja-JP" altLang="en-US" sz="1400" dirty="0">
              <a:ln/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pic>
        <p:nvPicPr>
          <p:cNvPr id="316" name="グラフィックス 315" descr="コンピューター 単色塗りつぶし">
            <a:extLst>
              <a:ext uri="{FF2B5EF4-FFF2-40B4-BE49-F238E27FC236}">
                <a16:creationId xmlns:a16="http://schemas.microsoft.com/office/drawing/2014/main" id="{8E79CBB2-75AA-AC9E-6DA7-210A9AC6BF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6811" y="5982654"/>
            <a:ext cx="690128" cy="690128"/>
          </a:xfrm>
          <a:prstGeom prst="rect">
            <a:avLst/>
          </a:prstGeom>
        </p:spPr>
      </p:pic>
      <p:pic>
        <p:nvPicPr>
          <p:cNvPr id="323" name="グラフィックス 322" descr="コンピューター 単色塗りつぶし">
            <a:extLst>
              <a:ext uri="{FF2B5EF4-FFF2-40B4-BE49-F238E27FC236}">
                <a16:creationId xmlns:a16="http://schemas.microsoft.com/office/drawing/2014/main" id="{E6B8514D-9FBD-4CB8-E583-58A0A141C0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42518" y="3335790"/>
            <a:ext cx="637886" cy="637886"/>
          </a:xfrm>
          <a:prstGeom prst="rect">
            <a:avLst/>
          </a:prstGeom>
        </p:spPr>
      </p:pic>
      <p:sp>
        <p:nvSpPr>
          <p:cNvPr id="325" name="テキスト ボックス 324">
            <a:extLst>
              <a:ext uri="{FF2B5EF4-FFF2-40B4-BE49-F238E27FC236}">
                <a16:creationId xmlns:a16="http://schemas.microsoft.com/office/drawing/2014/main" id="{7B7A7DC8-32C8-6F6F-5F2F-1F5E3D41FBA2}"/>
              </a:ext>
            </a:extLst>
          </p:cNvPr>
          <p:cNvSpPr txBox="1"/>
          <p:nvPr/>
        </p:nvSpPr>
        <p:spPr>
          <a:xfrm>
            <a:off x="8932840" y="3403033"/>
            <a:ext cx="179426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Metasploitable2</a:t>
            </a:r>
          </a:p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192.168.13.141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pic>
        <p:nvPicPr>
          <p:cNvPr id="326" name="グラフィックス 325" descr="コンピューター 単色塗りつぶし">
            <a:extLst>
              <a:ext uri="{FF2B5EF4-FFF2-40B4-BE49-F238E27FC236}">
                <a16:creationId xmlns:a16="http://schemas.microsoft.com/office/drawing/2014/main" id="{F6C55194-CC59-5A60-B432-6A8C1CCA0D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79488" y="5811177"/>
            <a:ext cx="637886" cy="637886"/>
          </a:xfrm>
          <a:prstGeom prst="rect">
            <a:avLst/>
          </a:prstGeom>
        </p:spPr>
      </p:pic>
      <p:sp>
        <p:nvSpPr>
          <p:cNvPr id="327" name="テキスト ボックス 326">
            <a:extLst>
              <a:ext uri="{FF2B5EF4-FFF2-40B4-BE49-F238E27FC236}">
                <a16:creationId xmlns:a16="http://schemas.microsoft.com/office/drawing/2014/main" id="{DAAEC754-F464-29A2-0D90-FFD1B10432C4}"/>
              </a:ext>
            </a:extLst>
          </p:cNvPr>
          <p:cNvSpPr txBox="1"/>
          <p:nvPr/>
        </p:nvSpPr>
        <p:spPr>
          <a:xfrm>
            <a:off x="11447254" y="5883311"/>
            <a:ext cx="179426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その他の検証対象</a:t>
            </a:r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192.168.13.x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329" name="テキスト ボックス 328">
            <a:extLst>
              <a:ext uri="{FF2B5EF4-FFF2-40B4-BE49-F238E27FC236}">
                <a16:creationId xmlns:a16="http://schemas.microsoft.com/office/drawing/2014/main" id="{74FCACA0-078C-1DC5-7B3E-828ABDE90278}"/>
              </a:ext>
            </a:extLst>
          </p:cNvPr>
          <p:cNvSpPr txBox="1"/>
          <p:nvPr/>
        </p:nvSpPr>
        <p:spPr>
          <a:xfrm>
            <a:off x="4106105" y="6110098"/>
            <a:ext cx="147106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Ubuntu18.04</a:t>
            </a:r>
          </a:p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10.77.0.3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pic>
        <p:nvPicPr>
          <p:cNvPr id="330" name="グラフィックス 329" descr="コンピューター 単色塗りつぶし">
            <a:extLst>
              <a:ext uri="{FF2B5EF4-FFF2-40B4-BE49-F238E27FC236}">
                <a16:creationId xmlns:a16="http://schemas.microsoft.com/office/drawing/2014/main" id="{0960605F-8294-B73E-3682-C9FC294464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38516" y="5982654"/>
            <a:ext cx="690128" cy="690128"/>
          </a:xfrm>
          <a:prstGeom prst="rect">
            <a:avLst/>
          </a:prstGeom>
        </p:spPr>
      </p:pic>
      <p:sp>
        <p:nvSpPr>
          <p:cNvPr id="332" name="テキスト ボックス 331">
            <a:extLst>
              <a:ext uri="{FF2B5EF4-FFF2-40B4-BE49-F238E27FC236}">
                <a16:creationId xmlns:a16="http://schemas.microsoft.com/office/drawing/2014/main" id="{B0ECF173-08AC-B693-6886-DEE0CA2B6603}"/>
              </a:ext>
            </a:extLst>
          </p:cNvPr>
          <p:cNvSpPr txBox="1"/>
          <p:nvPr/>
        </p:nvSpPr>
        <p:spPr>
          <a:xfrm>
            <a:off x="6131181" y="6079320"/>
            <a:ext cx="174201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4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Ubuntu24.04</a:t>
            </a:r>
          </a:p>
          <a:p>
            <a:pPr algn="ctr"/>
            <a:r>
              <a:rPr lang="en-US" altLang="ja-JP" sz="14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10.77.0.4</a:t>
            </a:r>
            <a:endParaRPr lang="ja-JP" altLang="en-US" sz="14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pic>
        <p:nvPicPr>
          <p:cNvPr id="335" name="グラフィックス 334" descr="コンピューター 単色塗りつぶし">
            <a:extLst>
              <a:ext uri="{FF2B5EF4-FFF2-40B4-BE49-F238E27FC236}">
                <a16:creationId xmlns:a16="http://schemas.microsoft.com/office/drawing/2014/main" id="{6A78B100-BE04-97A3-3FBF-9FD2614EE6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86453" y="5982654"/>
            <a:ext cx="690128" cy="690128"/>
          </a:xfrm>
          <a:prstGeom prst="rect">
            <a:avLst/>
          </a:prstGeom>
        </p:spPr>
      </p:pic>
      <p:sp>
        <p:nvSpPr>
          <p:cNvPr id="336" name="テキスト ボックス 335">
            <a:extLst>
              <a:ext uri="{FF2B5EF4-FFF2-40B4-BE49-F238E27FC236}">
                <a16:creationId xmlns:a16="http://schemas.microsoft.com/office/drawing/2014/main" id="{4B8D8746-C4DB-C759-CEBB-EA128B095978}"/>
              </a:ext>
            </a:extLst>
          </p:cNvPr>
          <p:cNvSpPr txBox="1"/>
          <p:nvPr/>
        </p:nvSpPr>
        <p:spPr>
          <a:xfrm>
            <a:off x="8301854" y="6079320"/>
            <a:ext cx="174201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4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その他の検証対象</a:t>
            </a:r>
            <a:r>
              <a:rPr lang="en-US" altLang="ja-JP" sz="14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192.168.64.x</a:t>
            </a:r>
            <a:endParaRPr lang="ja-JP" altLang="en-US" sz="14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340" name="四角形: 角を丸くする 339">
            <a:extLst>
              <a:ext uri="{FF2B5EF4-FFF2-40B4-BE49-F238E27FC236}">
                <a16:creationId xmlns:a16="http://schemas.microsoft.com/office/drawing/2014/main" id="{D2893EF1-DC5A-C3D0-442B-CE7CEE244E58}"/>
              </a:ext>
            </a:extLst>
          </p:cNvPr>
          <p:cNvSpPr/>
          <p:nvPr/>
        </p:nvSpPr>
        <p:spPr>
          <a:xfrm>
            <a:off x="3698649" y="3886315"/>
            <a:ext cx="1126090" cy="269046"/>
          </a:xfrm>
          <a:prstGeom prst="roundRect">
            <a:avLst>
              <a:gd name="adj" fmla="val 20385"/>
            </a:avLst>
          </a:prstGeom>
          <a:solidFill>
            <a:srgbClr val="DF29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ln/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kali Linux</a:t>
            </a:r>
            <a:endParaRPr lang="ja-JP" altLang="en-US" sz="1400" dirty="0">
              <a:ln/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cxnSp>
        <p:nvCxnSpPr>
          <p:cNvPr id="342" name="直線コネクタ 341">
            <a:extLst>
              <a:ext uri="{FF2B5EF4-FFF2-40B4-BE49-F238E27FC236}">
                <a16:creationId xmlns:a16="http://schemas.microsoft.com/office/drawing/2014/main" id="{AFD94C57-0532-6526-8C8B-55ABD991FB8B}"/>
              </a:ext>
            </a:extLst>
          </p:cNvPr>
          <p:cNvCxnSpPr>
            <a:cxnSpLocks/>
          </p:cNvCxnSpPr>
          <p:nvPr/>
        </p:nvCxnSpPr>
        <p:spPr>
          <a:xfrm>
            <a:off x="2125903" y="5867043"/>
            <a:ext cx="659704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直線コネクタ 355">
            <a:extLst>
              <a:ext uri="{FF2B5EF4-FFF2-40B4-BE49-F238E27FC236}">
                <a16:creationId xmlns:a16="http://schemas.microsoft.com/office/drawing/2014/main" id="{0AB87908-E723-C735-B647-7FFC751372FF}"/>
              </a:ext>
            </a:extLst>
          </p:cNvPr>
          <p:cNvCxnSpPr>
            <a:cxnSpLocks/>
          </p:cNvCxnSpPr>
          <p:nvPr/>
        </p:nvCxnSpPr>
        <p:spPr>
          <a:xfrm>
            <a:off x="5945022" y="4004411"/>
            <a:ext cx="48613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直線コネクタ 357">
            <a:extLst>
              <a:ext uri="{FF2B5EF4-FFF2-40B4-BE49-F238E27FC236}">
                <a16:creationId xmlns:a16="http://schemas.microsoft.com/office/drawing/2014/main" id="{DAA7C8DF-7BB0-8CA6-8152-E307E1927851}"/>
              </a:ext>
            </a:extLst>
          </p:cNvPr>
          <p:cNvCxnSpPr>
            <a:cxnSpLocks/>
          </p:cNvCxnSpPr>
          <p:nvPr/>
        </p:nvCxnSpPr>
        <p:spPr>
          <a:xfrm>
            <a:off x="9056255" y="3833374"/>
            <a:ext cx="0" cy="17150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直線コネクタ 360">
            <a:extLst>
              <a:ext uri="{FF2B5EF4-FFF2-40B4-BE49-F238E27FC236}">
                <a16:creationId xmlns:a16="http://schemas.microsoft.com/office/drawing/2014/main" id="{615B7F8F-D109-06D4-3FA8-D8DC15A0E04D}"/>
              </a:ext>
            </a:extLst>
          </p:cNvPr>
          <p:cNvCxnSpPr>
            <a:cxnSpLocks/>
          </p:cNvCxnSpPr>
          <p:nvPr/>
        </p:nvCxnSpPr>
        <p:spPr>
          <a:xfrm>
            <a:off x="4183313" y="5858347"/>
            <a:ext cx="0" cy="2546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直線コネクタ 363">
            <a:extLst>
              <a:ext uri="{FF2B5EF4-FFF2-40B4-BE49-F238E27FC236}">
                <a16:creationId xmlns:a16="http://schemas.microsoft.com/office/drawing/2014/main" id="{0EFDB6EA-F6AB-39E4-7903-80729AC8CCD6}"/>
              </a:ext>
            </a:extLst>
          </p:cNvPr>
          <p:cNvCxnSpPr>
            <a:cxnSpLocks/>
          </p:cNvCxnSpPr>
          <p:nvPr/>
        </p:nvCxnSpPr>
        <p:spPr>
          <a:xfrm>
            <a:off x="6301480" y="5858347"/>
            <a:ext cx="0" cy="2546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直線コネクタ 364">
            <a:extLst>
              <a:ext uri="{FF2B5EF4-FFF2-40B4-BE49-F238E27FC236}">
                <a16:creationId xmlns:a16="http://schemas.microsoft.com/office/drawing/2014/main" id="{7E93C555-3E37-0DBB-FFB1-7C38D2A39FEF}"/>
              </a:ext>
            </a:extLst>
          </p:cNvPr>
          <p:cNvCxnSpPr>
            <a:cxnSpLocks/>
          </p:cNvCxnSpPr>
          <p:nvPr/>
        </p:nvCxnSpPr>
        <p:spPr>
          <a:xfrm>
            <a:off x="8338625" y="5858347"/>
            <a:ext cx="0" cy="2546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直線コネクタ 365">
            <a:extLst>
              <a:ext uri="{FF2B5EF4-FFF2-40B4-BE49-F238E27FC236}">
                <a16:creationId xmlns:a16="http://schemas.microsoft.com/office/drawing/2014/main" id="{4FD395C1-2062-C6AE-206E-9830E8980ED9}"/>
              </a:ext>
            </a:extLst>
          </p:cNvPr>
          <p:cNvCxnSpPr>
            <a:cxnSpLocks/>
          </p:cNvCxnSpPr>
          <p:nvPr/>
        </p:nvCxnSpPr>
        <p:spPr>
          <a:xfrm>
            <a:off x="3778199" y="4943651"/>
            <a:ext cx="0" cy="937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0" name="テキスト ボックス 369">
            <a:extLst>
              <a:ext uri="{FF2B5EF4-FFF2-40B4-BE49-F238E27FC236}">
                <a16:creationId xmlns:a16="http://schemas.microsoft.com/office/drawing/2014/main" id="{A4353B9E-8107-C64F-FD2E-52323D05BDAF}"/>
              </a:ext>
            </a:extLst>
          </p:cNvPr>
          <p:cNvSpPr txBox="1"/>
          <p:nvPr/>
        </p:nvSpPr>
        <p:spPr>
          <a:xfrm>
            <a:off x="3585244" y="4952332"/>
            <a:ext cx="22787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Bridge 10.77.0.3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373" name="テキスト ボックス 372">
            <a:extLst>
              <a:ext uri="{FF2B5EF4-FFF2-40B4-BE49-F238E27FC236}">
                <a16:creationId xmlns:a16="http://schemas.microsoft.com/office/drawing/2014/main" id="{E171C054-9C9C-A259-2472-22DC612F8CEC}"/>
              </a:ext>
            </a:extLst>
          </p:cNvPr>
          <p:cNvSpPr txBox="1"/>
          <p:nvPr/>
        </p:nvSpPr>
        <p:spPr>
          <a:xfrm>
            <a:off x="5878468" y="3770936"/>
            <a:ext cx="147866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Internal </a:t>
            </a:r>
          </a:p>
          <a:p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10.7.0.1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cxnSp>
        <p:nvCxnSpPr>
          <p:cNvPr id="375" name="直線コネクタ 374">
            <a:extLst>
              <a:ext uri="{FF2B5EF4-FFF2-40B4-BE49-F238E27FC236}">
                <a16:creationId xmlns:a16="http://schemas.microsoft.com/office/drawing/2014/main" id="{66AFFC9C-5FA6-1A2B-020F-FDB935D33229}"/>
              </a:ext>
            </a:extLst>
          </p:cNvPr>
          <p:cNvCxnSpPr>
            <a:cxnSpLocks/>
          </p:cNvCxnSpPr>
          <p:nvPr/>
        </p:nvCxnSpPr>
        <p:spPr>
          <a:xfrm>
            <a:off x="3828387" y="2963119"/>
            <a:ext cx="0" cy="9444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9" name="テキスト ボックス 378">
            <a:extLst>
              <a:ext uri="{FF2B5EF4-FFF2-40B4-BE49-F238E27FC236}">
                <a16:creationId xmlns:a16="http://schemas.microsoft.com/office/drawing/2014/main" id="{8CDB61BB-656D-8DEA-18DE-9A6AA8B11181}"/>
              </a:ext>
            </a:extLst>
          </p:cNvPr>
          <p:cNvSpPr txBox="1"/>
          <p:nvPr/>
        </p:nvSpPr>
        <p:spPr>
          <a:xfrm>
            <a:off x="3649094" y="3411247"/>
            <a:ext cx="130813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1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Host Only </a:t>
            </a:r>
          </a:p>
          <a:p>
            <a:pPr algn="ctr"/>
            <a:r>
              <a:rPr lang="en-US" altLang="ja-JP" sz="11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192.168.56.7 </a:t>
            </a:r>
            <a:endParaRPr lang="ja-JP" altLang="en-US" sz="11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cxnSp>
        <p:nvCxnSpPr>
          <p:cNvPr id="380" name="直線コネクタ 379">
            <a:extLst>
              <a:ext uri="{FF2B5EF4-FFF2-40B4-BE49-F238E27FC236}">
                <a16:creationId xmlns:a16="http://schemas.microsoft.com/office/drawing/2014/main" id="{9B8BC140-5231-25C1-1409-E0553622D531}"/>
              </a:ext>
            </a:extLst>
          </p:cNvPr>
          <p:cNvCxnSpPr>
            <a:cxnSpLocks/>
          </p:cNvCxnSpPr>
          <p:nvPr/>
        </p:nvCxnSpPr>
        <p:spPr>
          <a:xfrm>
            <a:off x="2354513" y="5290891"/>
            <a:ext cx="0" cy="5903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5" name="テキスト ボックス 384">
            <a:extLst>
              <a:ext uri="{FF2B5EF4-FFF2-40B4-BE49-F238E27FC236}">
                <a16:creationId xmlns:a16="http://schemas.microsoft.com/office/drawing/2014/main" id="{41B7B706-0201-4002-8609-CD28126073BA}"/>
              </a:ext>
            </a:extLst>
          </p:cNvPr>
          <p:cNvSpPr txBox="1"/>
          <p:nvPr/>
        </p:nvSpPr>
        <p:spPr>
          <a:xfrm>
            <a:off x="664073" y="5054139"/>
            <a:ext cx="20284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EtherNet</a:t>
            </a:r>
          </a:p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10.77.0.1</a:t>
            </a:r>
          </a:p>
        </p:txBody>
      </p:sp>
      <p:cxnSp>
        <p:nvCxnSpPr>
          <p:cNvPr id="386" name="直線コネクタ 385">
            <a:extLst>
              <a:ext uri="{FF2B5EF4-FFF2-40B4-BE49-F238E27FC236}">
                <a16:creationId xmlns:a16="http://schemas.microsoft.com/office/drawing/2014/main" id="{67628D0B-FDA3-5654-38B3-2C4D36687DD6}"/>
              </a:ext>
            </a:extLst>
          </p:cNvPr>
          <p:cNvCxnSpPr>
            <a:cxnSpLocks/>
          </p:cNvCxnSpPr>
          <p:nvPr/>
        </p:nvCxnSpPr>
        <p:spPr>
          <a:xfrm>
            <a:off x="5319989" y="2763469"/>
            <a:ext cx="25348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7" name="四角形: 角を丸くする 386">
            <a:extLst>
              <a:ext uri="{FF2B5EF4-FFF2-40B4-BE49-F238E27FC236}">
                <a16:creationId xmlns:a16="http://schemas.microsoft.com/office/drawing/2014/main" id="{C2938303-3D9C-4D0A-9720-A68868632E54}"/>
              </a:ext>
            </a:extLst>
          </p:cNvPr>
          <p:cNvSpPr/>
          <p:nvPr/>
        </p:nvSpPr>
        <p:spPr>
          <a:xfrm>
            <a:off x="3099387" y="2129742"/>
            <a:ext cx="2266900" cy="821802"/>
          </a:xfrm>
          <a:prstGeom prst="roundRect">
            <a:avLst>
              <a:gd name="adj" fmla="val 538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397" name="グラフィックス 396" descr="サーバー 単色塗りつぶし">
            <a:extLst>
              <a:ext uri="{FF2B5EF4-FFF2-40B4-BE49-F238E27FC236}">
                <a16:creationId xmlns:a16="http://schemas.microsoft.com/office/drawing/2014/main" id="{C67C84A7-4BF3-D82F-0825-10DE257FD6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85716" y="1195754"/>
            <a:ext cx="426712" cy="426712"/>
          </a:xfrm>
          <a:prstGeom prst="rect">
            <a:avLst/>
          </a:prstGeom>
        </p:spPr>
      </p:pic>
      <p:sp>
        <p:nvSpPr>
          <p:cNvPr id="400" name="テキスト ボックス 399">
            <a:extLst>
              <a:ext uri="{FF2B5EF4-FFF2-40B4-BE49-F238E27FC236}">
                <a16:creationId xmlns:a16="http://schemas.microsoft.com/office/drawing/2014/main" id="{6FBCFB0F-AD72-6196-8031-9FAC64BE1390}"/>
              </a:ext>
            </a:extLst>
          </p:cNvPr>
          <p:cNvSpPr txBox="1"/>
          <p:nvPr/>
        </p:nvSpPr>
        <p:spPr>
          <a:xfrm>
            <a:off x="4123376" y="698087"/>
            <a:ext cx="220787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Google/Microsoft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pic>
        <p:nvPicPr>
          <p:cNvPr id="402" name="グラフィックス 401" descr="コンピューター 単色塗りつぶし">
            <a:extLst>
              <a:ext uri="{FF2B5EF4-FFF2-40B4-BE49-F238E27FC236}">
                <a16:creationId xmlns:a16="http://schemas.microsoft.com/office/drawing/2014/main" id="{23BEC985-A97B-DDD2-6EE4-ED9CE97B7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24711" y="2444018"/>
            <a:ext cx="637886" cy="637886"/>
          </a:xfrm>
          <a:prstGeom prst="rect">
            <a:avLst/>
          </a:prstGeom>
        </p:spPr>
      </p:pic>
      <p:sp>
        <p:nvSpPr>
          <p:cNvPr id="404" name="テキスト ボックス 403">
            <a:extLst>
              <a:ext uri="{FF2B5EF4-FFF2-40B4-BE49-F238E27FC236}">
                <a16:creationId xmlns:a16="http://schemas.microsoft.com/office/drawing/2014/main" id="{1EEDE83D-36A3-8B80-9106-A59664D8FF0E}"/>
              </a:ext>
            </a:extLst>
          </p:cNvPr>
          <p:cNvSpPr txBox="1"/>
          <p:nvPr/>
        </p:nvSpPr>
        <p:spPr>
          <a:xfrm>
            <a:off x="7406470" y="2519095"/>
            <a:ext cx="31813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Ubuntu</a:t>
            </a:r>
          </a:p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TinyProxy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405" name="テキスト ボックス 404">
            <a:extLst>
              <a:ext uri="{FF2B5EF4-FFF2-40B4-BE49-F238E27FC236}">
                <a16:creationId xmlns:a16="http://schemas.microsoft.com/office/drawing/2014/main" id="{4AC3C0FC-4201-A821-BFAB-21D191D5DC3A}"/>
              </a:ext>
            </a:extLst>
          </p:cNvPr>
          <p:cNvSpPr txBox="1"/>
          <p:nvPr/>
        </p:nvSpPr>
        <p:spPr>
          <a:xfrm>
            <a:off x="2862448" y="2211888"/>
            <a:ext cx="21170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Windows</a:t>
            </a:r>
          </a:p>
          <a:p>
            <a:pPr algn="ctr"/>
            <a:r>
              <a: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仮想ネットワーク</a:t>
            </a:r>
            <a:endParaRPr lang="en-US" altLang="ja-JP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スタック</a:t>
            </a:r>
          </a:p>
        </p:txBody>
      </p:sp>
      <p:sp>
        <p:nvSpPr>
          <p:cNvPr id="406" name="四角形: 角を丸くする 405">
            <a:extLst>
              <a:ext uri="{FF2B5EF4-FFF2-40B4-BE49-F238E27FC236}">
                <a16:creationId xmlns:a16="http://schemas.microsoft.com/office/drawing/2014/main" id="{ECF7A49B-7C3C-1167-F6F5-06B7D9CA9786}"/>
              </a:ext>
            </a:extLst>
          </p:cNvPr>
          <p:cNvSpPr/>
          <p:nvPr/>
        </p:nvSpPr>
        <p:spPr>
          <a:xfrm>
            <a:off x="798653" y="2225041"/>
            <a:ext cx="1224287" cy="655320"/>
          </a:xfrm>
          <a:prstGeom prst="roundRect">
            <a:avLst>
              <a:gd name="adj" fmla="val 5380"/>
            </a:avLst>
          </a:prstGeom>
          <a:solidFill>
            <a:schemeClr val="bg1"/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7" name="テキスト ボックス 406">
            <a:extLst>
              <a:ext uri="{FF2B5EF4-FFF2-40B4-BE49-F238E27FC236}">
                <a16:creationId xmlns:a16="http://schemas.microsoft.com/office/drawing/2014/main" id="{45A5018F-8949-E233-4C97-2C1629D8C9F2}"/>
              </a:ext>
            </a:extLst>
          </p:cNvPr>
          <p:cNvSpPr txBox="1"/>
          <p:nvPr/>
        </p:nvSpPr>
        <p:spPr>
          <a:xfrm>
            <a:off x="742916" y="2373666"/>
            <a:ext cx="13398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VSCode</a:t>
            </a:r>
          </a:p>
          <a:p>
            <a:pPr algn="ctr"/>
            <a:r>
              <a: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クライアント</a:t>
            </a:r>
            <a:r>
              <a: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408" name="直線コネクタ 407">
            <a:extLst>
              <a:ext uri="{FF2B5EF4-FFF2-40B4-BE49-F238E27FC236}">
                <a16:creationId xmlns:a16="http://schemas.microsoft.com/office/drawing/2014/main" id="{F73A7FBE-0084-28EA-5B3E-5D0C7D21F6F0}"/>
              </a:ext>
            </a:extLst>
          </p:cNvPr>
          <p:cNvCxnSpPr>
            <a:cxnSpLocks/>
          </p:cNvCxnSpPr>
          <p:nvPr/>
        </p:nvCxnSpPr>
        <p:spPr>
          <a:xfrm>
            <a:off x="2022940" y="2542113"/>
            <a:ext cx="10972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0" name="テキスト ボックス 409">
            <a:extLst>
              <a:ext uri="{FF2B5EF4-FFF2-40B4-BE49-F238E27FC236}">
                <a16:creationId xmlns:a16="http://schemas.microsoft.com/office/drawing/2014/main" id="{AAC09D8C-B38A-4789-82FB-31766A76412A}"/>
              </a:ext>
            </a:extLst>
          </p:cNvPr>
          <p:cNvSpPr txBox="1"/>
          <p:nvPr/>
        </p:nvSpPr>
        <p:spPr>
          <a:xfrm>
            <a:off x="1817103" y="3137077"/>
            <a:ext cx="800197" cy="276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SSH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cxnSp>
        <p:nvCxnSpPr>
          <p:cNvPr id="412" name="直線コネクタ 411">
            <a:extLst>
              <a:ext uri="{FF2B5EF4-FFF2-40B4-BE49-F238E27FC236}">
                <a16:creationId xmlns:a16="http://schemas.microsoft.com/office/drawing/2014/main" id="{31EC0B95-D8D7-0DDE-5672-F903C0FAE6F8}"/>
              </a:ext>
            </a:extLst>
          </p:cNvPr>
          <p:cNvCxnSpPr>
            <a:cxnSpLocks/>
          </p:cNvCxnSpPr>
          <p:nvPr/>
        </p:nvCxnSpPr>
        <p:spPr>
          <a:xfrm>
            <a:off x="2022940" y="2823376"/>
            <a:ext cx="1615440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直線コネクタ 412">
            <a:extLst>
              <a:ext uri="{FF2B5EF4-FFF2-40B4-BE49-F238E27FC236}">
                <a16:creationId xmlns:a16="http://schemas.microsoft.com/office/drawing/2014/main" id="{C98D839F-64B2-1996-D113-BCA58E0C4F30}"/>
              </a:ext>
            </a:extLst>
          </p:cNvPr>
          <p:cNvCxnSpPr>
            <a:cxnSpLocks/>
          </p:cNvCxnSpPr>
          <p:nvPr/>
        </p:nvCxnSpPr>
        <p:spPr>
          <a:xfrm>
            <a:off x="3623140" y="2804160"/>
            <a:ext cx="0" cy="1377696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直線コネクタ 414">
            <a:extLst>
              <a:ext uri="{FF2B5EF4-FFF2-40B4-BE49-F238E27FC236}">
                <a16:creationId xmlns:a16="http://schemas.microsoft.com/office/drawing/2014/main" id="{787FD0F8-7914-F711-4CBC-8E07B49AA7C4}"/>
              </a:ext>
            </a:extLst>
          </p:cNvPr>
          <p:cNvCxnSpPr>
            <a:cxnSpLocks/>
          </p:cNvCxnSpPr>
          <p:nvPr/>
        </p:nvCxnSpPr>
        <p:spPr>
          <a:xfrm>
            <a:off x="5019388" y="2840736"/>
            <a:ext cx="0" cy="1316736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直線コネクタ 415">
            <a:extLst>
              <a:ext uri="{FF2B5EF4-FFF2-40B4-BE49-F238E27FC236}">
                <a16:creationId xmlns:a16="http://schemas.microsoft.com/office/drawing/2014/main" id="{FE4F4C53-E3AC-E3F8-5DD4-94DAE1AF380A}"/>
              </a:ext>
            </a:extLst>
          </p:cNvPr>
          <p:cNvCxnSpPr>
            <a:cxnSpLocks/>
          </p:cNvCxnSpPr>
          <p:nvPr/>
        </p:nvCxnSpPr>
        <p:spPr>
          <a:xfrm flipH="1">
            <a:off x="4992624" y="2865120"/>
            <a:ext cx="2882476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直線コネクタ 417">
            <a:extLst>
              <a:ext uri="{FF2B5EF4-FFF2-40B4-BE49-F238E27FC236}">
                <a16:creationId xmlns:a16="http://schemas.microsoft.com/office/drawing/2014/main" id="{BA1C2C23-1BD9-BD4C-256C-2584982E29FA}"/>
              </a:ext>
            </a:extLst>
          </p:cNvPr>
          <p:cNvCxnSpPr>
            <a:cxnSpLocks/>
          </p:cNvCxnSpPr>
          <p:nvPr/>
        </p:nvCxnSpPr>
        <p:spPr>
          <a:xfrm flipH="1">
            <a:off x="5009322" y="2651760"/>
            <a:ext cx="2865778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直線コネクタ 418">
            <a:extLst>
              <a:ext uri="{FF2B5EF4-FFF2-40B4-BE49-F238E27FC236}">
                <a16:creationId xmlns:a16="http://schemas.microsoft.com/office/drawing/2014/main" id="{6B883E86-12D4-2059-7098-000487E0DD48}"/>
              </a:ext>
            </a:extLst>
          </p:cNvPr>
          <p:cNvCxnSpPr>
            <a:cxnSpLocks/>
          </p:cNvCxnSpPr>
          <p:nvPr/>
        </p:nvCxnSpPr>
        <p:spPr>
          <a:xfrm>
            <a:off x="5033170" y="954593"/>
            <a:ext cx="0" cy="1697167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テキスト ボックス 306">
            <a:extLst>
              <a:ext uri="{FF2B5EF4-FFF2-40B4-BE49-F238E27FC236}">
                <a16:creationId xmlns:a16="http://schemas.microsoft.com/office/drawing/2014/main" id="{0459FE48-8437-F72B-264D-AFA0EE2134E9}"/>
              </a:ext>
            </a:extLst>
          </p:cNvPr>
          <p:cNvSpPr txBox="1"/>
          <p:nvPr/>
        </p:nvSpPr>
        <p:spPr>
          <a:xfrm>
            <a:off x="2068557" y="1202565"/>
            <a:ext cx="18380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ホームルータ</a:t>
            </a:r>
            <a:endParaRPr lang="en-US" altLang="ja-JP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192.168.12.1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395" name="テキスト ボックス 394">
            <a:extLst>
              <a:ext uri="{FF2B5EF4-FFF2-40B4-BE49-F238E27FC236}">
                <a16:creationId xmlns:a16="http://schemas.microsoft.com/office/drawing/2014/main" id="{2DEA2561-BB32-C425-E635-34126A7FF05D}"/>
              </a:ext>
            </a:extLst>
          </p:cNvPr>
          <p:cNvSpPr txBox="1"/>
          <p:nvPr/>
        </p:nvSpPr>
        <p:spPr>
          <a:xfrm>
            <a:off x="3780273" y="1712019"/>
            <a:ext cx="13105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WiFi</a:t>
            </a:r>
          </a:p>
          <a:p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192.168.12.32 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391" name="テキスト ボックス 390">
            <a:extLst>
              <a:ext uri="{FF2B5EF4-FFF2-40B4-BE49-F238E27FC236}">
                <a16:creationId xmlns:a16="http://schemas.microsoft.com/office/drawing/2014/main" id="{4C0BCAF1-8EEC-E9BA-14E2-234113A86F7F}"/>
              </a:ext>
            </a:extLst>
          </p:cNvPr>
          <p:cNvSpPr txBox="1"/>
          <p:nvPr/>
        </p:nvSpPr>
        <p:spPr>
          <a:xfrm>
            <a:off x="3688106" y="2934268"/>
            <a:ext cx="1364077" cy="459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Host Only </a:t>
            </a:r>
          </a:p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192.168.56.1 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423" name="テキスト ボックス 422">
            <a:extLst>
              <a:ext uri="{FF2B5EF4-FFF2-40B4-BE49-F238E27FC236}">
                <a16:creationId xmlns:a16="http://schemas.microsoft.com/office/drawing/2014/main" id="{A95650FE-0A71-0943-D2E6-3EF9477A3150}"/>
              </a:ext>
            </a:extLst>
          </p:cNvPr>
          <p:cNvSpPr txBox="1"/>
          <p:nvPr/>
        </p:nvSpPr>
        <p:spPr>
          <a:xfrm>
            <a:off x="1992459" y="2322068"/>
            <a:ext cx="15184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localhost</a:t>
            </a:r>
          </a:p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(OS</a:t>
            </a:r>
            <a:r>
              <a:rPr lang="ja-JP" altLang="en-US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内部</a:t>
            </a:r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3DA35806-3212-4D41-24AA-D38CA7A8E432}"/>
              </a:ext>
            </a:extLst>
          </p:cNvPr>
          <p:cNvCxnSpPr/>
          <p:nvPr/>
        </p:nvCxnSpPr>
        <p:spPr>
          <a:xfrm>
            <a:off x="0" y="6634480"/>
            <a:ext cx="12192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F918279-4C96-1CE1-A801-01C729ADFEEB}"/>
              </a:ext>
            </a:extLst>
          </p:cNvPr>
          <p:cNvSpPr txBox="1"/>
          <p:nvPr/>
        </p:nvSpPr>
        <p:spPr>
          <a:xfrm>
            <a:off x="4297680" y="6604084"/>
            <a:ext cx="253306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Seched Insighs, All Rights Reserved</a:t>
            </a:r>
            <a:endParaRPr kumimoji="1" lang="ja-JP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245" name="グラフィックス 244" descr="雲 枠線">
            <a:extLst>
              <a:ext uri="{FF2B5EF4-FFF2-40B4-BE49-F238E27FC236}">
                <a16:creationId xmlns:a16="http://schemas.microsoft.com/office/drawing/2014/main" id="{54FBF1C9-F04B-525D-7336-079D468A27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004460" y="398926"/>
            <a:ext cx="1625120" cy="902482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56A8F53-1829-2F86-0A80-BC4DE2DD16D9}"/>
              </a:ext>
            </a:extLst>
          </p:cNvPr>
          <p:cNvSpPr txBox="1"/>
          <p:nvPr/>
        </p:nvSpPr>
        <p:spPr>
          <a:xfrm>
            <a:off x="1989574" y="170822"/>
            <a:ext cx="7842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AI</a:t>
            </a:r>
            <a:r>
              <a:rPr lang="ja-JP" altLang="en-US" dirty="0"/>
              <a:t>エージェント</a:t>
            </a:r>
            <a:r>
              <a:rPr lang="en-US" altLang="ja-JP" dirty="0"/>
              <a:t>(Google Antigravity)</a:t>
            </a:r>
            <a:r>
              <a:rPr lang="ja-JP" altLang="en-US" dirty="0"/>
              <a:t>を活用したセキュリティラボの構築</a:t>
            </a:r>
            <a:r>
              <a:rPr lang="en-US" altLang="ja-JP" dirty="0"/>
              <a:t>v2</a:t>
            </a:r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2701EDC-52B5-4DE6-7813-A46D2848A251}"/>
              </a:ext>
            </a:extLst>
          </p:cNvPr>
          <p:cNvSpPr txBox="1"/>
          <p:nvPr/>
        </p:nvSpPr>
        <p:spPr>
          <a:xfrm>
            <a:off x="6219930" y="773724"/>
            <a:ext cx="558556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内部ネットワークにセキュリティ検証対象を設置し、</a:t>
            </a:r>
            <a:endParaRPr kumimoji="1" lang="en-US" altLang="ja-JP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「</a:t>
            </a:r>
            <a:r>
              <a: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K</a:t>
            </a:r>
            <a:r>
              <a:rPr kumimoji="1"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ali </a:t>
            </a:r>
            <a:r>
              <a: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L</a:t>
            </a:r>
            <a:r>
              <a:rPr kumimoji="1"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inux</a:t>
            </a:r>
            <a:r>
              <a:rPr kumimoji="1"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のツールを使って脆弱性診断して」と</a:t>
            </a:r>
            <a:r>
              <a:rPr kumimoji="1"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AI</a:t>
            </a:r>
            <a:r>
              <a:rPr kumimoji="1"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エージェントに指示ができる。</a:t>
            </a:r>
            <a:endParaRPr kumimoji="1" lang="en-US" altLang="ja-JP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その際、</a:t>
            </a:r>
            <a:r>
              <a: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Kali Linux</a:t>
            </a:r>
            <a:r>
              <a: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の診断パケットが意図せずインターネットに発せられない構成を実現</a:t>
            </a:r>
            <a:endParaRPr lang="en-US" altLang="ja-JP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B0CCD46B-518C-C52D-B128-D90300BBBACA}"/>
              </a:ext>
            </a:extLst>
          </p:cNvPr>
          <p:cNvCxnSpPr>
            <a:cxnSpLocks/>
          </p:cNvCxnSpPr>
          <p:nvPr/>
        </p:nvCxnSpPr>
        <p:spPr>
          <a:xfrm>
            <a:off x="5945022" y="4547336"/>
            <a:ext cx="48613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ED28564-418C-D754-D1BC-D1EA9797CD2A}"/>
              </a:ext>
            </a:extLst>
          </p:cNvPr>
          <p:cNvSpPr txBox="1"/>
          <p:nvPr/>
        </p:nvSpPr>
        <p:spPr>
          <a:xfrm>
            <a:off x="5878468" y="4170986"/>
            <a:ext cx="347200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Internal   (</a:t>
            </a:r>
            <a:r>
              <a:rPr lang="en-US" altLang="ja-JP" sz="1200" dirty="0" err="1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EtherNetIP</a:t>
            </a:r>
            <a:r>
              <a:rPr lang="ja-JP" altLang="en-US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　工場等）</a:t>
            </a:r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 </a:t>
            </a:r>
          </a:p>
          <a:p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10.7.1.1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998F066-28B5-C492-5628-D26282B3DA60}"/>
              </a:ext>
            </a:extLst>
          </p:cNvPr>
          <p:cNvCxnSpPr>
            <a:cxnSpLocks/>
          </p:cNvCxnSpPr>
          <p:nvPr/>
        </p:nvCxnSpPr>
        <p:spPr>
          <a:xfrm>
            <a:off x="5945022" y="4928336"/>
            <a:ext cx="48613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D711A51-355E-B7B6-33A7-2EA7155480BD}"/>
              </a:ext>
            </a:extLst>
          </p:cNvPr>
          <p:cNvSpPr txBox="1"/>
          <p:nvPr/>
        </p:nvSpPr>
        <p:spPr>
          <a:xfrm>
            <a:off x="5878468" y="4551986"/>
            <a:ext cx="23511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Internal   (Modbus</a:t>
            </a:r>
            <a:r>
              <a:rPr lang="ja-JP" altLang="en-US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 プラント）</a:t>
            </a:r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 </a:t>
            </a:r>
          </a:p>
          <a:p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10.7.2.1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685B7E7-DCAC-A770-126A-82B153E4992D}"/>
              </a:ext>
            </a:extLst>
          </p:cNvPr>
          <p:cNvSpPr txBox="1"/>
          <p:nvPr/>
        </p:nvSpPr>
        <p:spPr>
          <a:xfrm>
            <a:off x="-181502" y="5810608"/>
            <a:ext cx="20284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EtherNet</a:t>
            </a:r>
          </a:p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10.77.1.1 (</a:t>
            </a:r>
            <a:r>
              <a:rPr lang="ja-JP" altLang="en-US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工場</a:t>
            </a:r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)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32DF37E-52C3-615D-5877-FDD1A129C04B}"/>
              </a:ext>
            </a:extLst>
          </p:cNvPr>
          <p:cNvSpPr txBox="1"/>
          <p:nvPr/>
        </p:nvSpPr>
        <p:spPr>
          <a:xfrm>
            <a:off x="-83179" y="6170715"/>
            <a:ext cx="20284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EtherNet</a:t>
            </a:r>
          </a:p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10.77.2.1 (</a:t>
            </a:r>
            <a:r>
              <a:rPr lang="ja-JP" altLang="en-US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ガス</a:t>
            </a:r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)</a:t>
            </a:r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84927493-09E8-9156-11D3-8C374CEFBDA0}"/>
              </a:ext>
            </a:extLst>
          </p:cNvPr>
          <p:cNvCxnSpPr>
            <a:cxnSpLocks/>
          </p:cNvCxnSpPr>
          <p:nvPr/>
        </p:nvCxnSpPr>
        <p:spPr>
          <a:xfrm>
            <a:off x="5945022" y="5124981"/>
            <a:ext cx="48613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5174B122-EED3-14BB-EDB2-A282D6121EAD}"/>
              </a:ext>
            </a:extLst>
          </p:cNvPr>
          <p:cNvSpPr txBox="1"/>
          <p:nvPr/>
        </p:nvSpPr>
        <p:spPr>
          <a:xfrm>
            <a:off x="5878468" y="4856786"/>
            <a:ext cx="23511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Internal   (</a:t>
            </a:r>
            <a:r>
              <a:rPr lang="en-US" altLang="ja-JP" sz="1200" dirty="0" err="1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Bacnet</a:t>
            </a:r>
            <a:r>
              <a:rPr lang="ja-JP" altLang="en-US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　ビル）</a:t>
            </a:r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 </a:t>
            </a:r>
          </a:p>
          <a:p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10.73.1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</p:spTree>
    <p:extLst>
      <p:ext uri="{BB962C8B-B14F-4D97-AF65-F5344CB8AC3E}">
        <p14:creationId xmlns:p14="http://schemas.microsoft.com/office/powerpoint/2010/main" val="4130786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四角形: 角を丸くする 309">
            <a:extLst>
              <a:ext uri="{FF2B5EF4-FFF2-40B4-BE49-F238E27FC236}">
                <a16:creationId xmlns:a16="http://schemas.microsoft.com/office/drawing/2014/main" id="{8E630CE0-1751-3863-AA23-1F7EDE932718}"/>
              </a:ext>
            </a:extLst>
          </p:cNvPr>
          <p:cNvSpPr/>
          <p:nvPr/>
        </p:nvSpPr>
        <p:spPr>
          <a:xfrm>
            <a:off x="572600" y="1719470"/>
            <a:ext cx="11223869" cy="3568147"/>
          </a:xfrm>
          <a:prstGeom prst="roundRect">
            <a:avLst>
              <a:gd name="adj" fmla="val 5380"/>
            </a:avLst>
          </a:prstGeom>
          <a:solidFill>
            <a:schemeClr val="bg2"/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8" name="四角形: 角を丸くする 317">
            <a:extLst>
              <a:ext uri="{FF2B5EF4-FFF2-40B4-BE49-F238E27FC236}">
                <a16:creationId xmlns:a16="http://schemas.microsoft.com/office/drawing/2014/main" id="{4198419B-EA4C-4BAA-F064-B481BA1C7A90}"/>
              </a:ext>
            </a:extLst>
          </p:cNvPr>
          <p:cNvSpPr/>
          <p:nvPr/>
        </p:nvSpPr>
        <p:spPr>
          <a:xfrm>
            <a:off x="2982597" y="3418979"/>
            <a:ext cx="8802404" cy="1849205"/>
          </a:xfrm>
          <a:prstGeom prst="roundRect">
            <a:avLst>
              <a:gd name="adj" fmla="val 5380"/>
            </a:avLst>
          </a:prstGeom>
          <a:solidFill>
            <a:schemeClr val="bg2"/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39" name="四角形: 角を丸くする 338">
            <a:extLst>
              <a:ext uri="{FF2B5EF4-FFF2-40B4-BE49-F238E27FC236}">
                <a16:creationId xmlns:a16="http://schemas.microsoft.com/office/drawing/2014/main" id="{85D91E77-1128-D309-F664-F7446368DDF9}"/>
              </a:ext>
            </a:extLst>
          </p:cNvPr>
          <p:cNvSpPr/>
          <p:nvPr/>
        </p:nvSpPr>
        <p:spPr>
          <a:xfrm>
            <a:off x="3099387" y="3776977"/>
            <a:ext cx="2845430" cy="1168144"/>
          </a:xfrm>
          <a:prstGeom prst="roundRect">
            <a:avLst>
              <a:gd name="adj" fmla="val 5380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2" name="四角形: 角を丸くする 311">
            <a:extLst>
              <a:ext uri="{FF2B5EF4-FFF2-40B4-BE49-F238E27FC236}">
                <a16:creationId xmlns:a16="http://schemas.microsoft.com/office/drawing/2014/main" id="{42D88123-3445-97AD-8C92-8CE4C4D65514}"/>
              </a:ext>
            </a:extLst>
          </p:cNvPr>
          <p:cNvSpPr/>
          <p:nvPr/>
        </p:nvSpPr>
        <p:spPr>
          <a:xfrm>
            <a:off x="7885253" y="2054087"/>
            <a:ext cx="1696727" cy="1001628"/>
          </a:xfrm>
          <a:prstGeom prst="roundRect">
            <a:avLst>
              <a:gd name="adj" fmla="val 5380"/>
            </a:avLst>
          </a:prstGeom>
          <a:solidFill>
            <a:schemeClr val="bg1"/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3" name="テキスト ボックス 162">
            <a:extLst>
              <a:ext uri="{FF2B5EF4-FFF2-40B4-BE49-F238E27FC236}">
                <a16:creationId xmlns:a16="http://schemas.microsoft.com/office/drawing/2014/main" id="{CE230928-38C3-DC7A-E457-3FCB1172BF1A}"/>
              </a:ext>
            </a:extLst>
          </p:cNvPr>
          <p:cNvSpPr txBox="1"/>
          <p:nvPr/>
        </p:nvSpPr>
        <p:spPr>
          <a:xfrm>
            <a:off x="1373970" y="432419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96018BD-A620-A72F-0826-1134BDE31641}"/>
              </a:ext>
            </a:extLst>
          </p:cNvPr>
          <p:cNvSpPr txBox="1"/>
          <p:nvPr/>
        </p:nvSpPr>
        <p:spPr>
          <a:xfrm>
            <a:off x="4442359" y="5548729"/>
            <a:ext cx="3622373" cy="253916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Meiryo UI" panose="020B0604030504040204" pitchFamily="50" charset="-128"/>
                <a:ea typeface="Meiryo UI" panose="020B0604030504040204" pitchFamily="50" charset="-128"/>
              </a:rPr>
              <a:t>l</a:t>
            </a:r>
            <a:r>
              <a:rPr lang="ja-JP" altLang="en-US" sz="1050" dirty="0">
                <a:latin typeface="Meiryo UI" panose="020B0604030504040204" pitchFamily="50" charset="-128"/>
                <a:ea typeface="Meiryo UI" panose="020B0604030504040204" pitchFamily="50" charset="-128"/>
              </a:rPr>
              <a:t>検証用物理</a:t>
            </a:r>
            <a:r>
              <a:rPr lang="en-US" altLang="ja-JP" sz="1050" dirty="0">
                <a:latin typeface="Meiryo UI" panose="020B0604030504040204" pitchFamily="50" charset="-128"/>
                <a:ea typeface="Meiryo UI" panose="020B0604030504040204" pitchFamily="50" charset="-128"/>
              </a:rPr>
              <a:t>PC</a:t>
            </a:r>
            <a:r>
              <a:rPr lang="ja-JP" altLang="en-US" sz="1050" dirty="0">
                <a:latin typeface="Meiryo UI" panose="020B0604030504040204" pitchFamily="50" charset="-128"/>
                <a:ea typeface="Meiryo UI" panose="020B0604030504040204" pitchFamily="50" charset="-128"/>
              </a:rPr>
              <a:t>接続用　内部ネットワーク </a:t>
            </a:r>
            <a:r>
              <a:rPr lang="en-US" altLang="ja-JP" sz="1050" dirty="0">
                <a:latin typeface="Meiryo UI" panose="020B0604030504040204" pitchFamily="50" charset="-128"/>
                <a:ea typeface="Meiryo UI" panose="020B0604030504040204" pitchFamily="50" charset="-128"/>
              </a:rPr>
              <a:t>192.168.64.0/24  </a:t>
            </a:r>
            <a:endParaRPr kumimoji="1" lang="ja-JP" altLang="en-US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A97587D3-CB5B-B07C-A5B1-1177576639F9}"/>
              </a:ext>
            </a:extLst>
          </p:cNvPr>
          <p:cNvSpPr txBox="1"/>
          <p:nvPr/>
        </p:nvSpPr>
        <p:spPr>
          <a:xfrm>
            <a:off x="7450206" y="4613576"/>
            <a:ext cx="2247833" cy="46166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仮想</a:t>
            </a:r>
            <a:r>
              <a: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PC</a:t>
            </a:r>
            <a:r>
              <a: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接続用　内部ネットワーク</a:t>
            </a:r>
            <a:endParaRPr lang="en-US" altLang="ja-JP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192.168.13.0/24 </a:t>
            </a:r>
            <a:endParaRPr kumimoji="1" lang="ja-JP" alt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A6B14304-3895-843D-758E-5A0497101A13}"/>
              </a:ext>
            </a:extLst>
          </p:cNvPr>
          <p:cNvCxnSpPr>
            <a:cxnSpLocks/>
          </p:cNvCxnSpPr>
          <p:nvPr/>
        </p:nvCxnSpPr>
        <p:spPr>
          <a:xfrm>
            <a:off x="10120397" y="4583521"/>
            <a:ext cx="0" cy="1865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テキスト ボックス 127">
            <a:extLst>
              <a:ext uri="{FF2B5EF4-FFF2-40B4-BE49-F238E27FC236}">
                <a16:creationId xmlns:a16="http://schemas.microsoft.com/office/drawing/2014/main" id="{64EFF9D3-D4D6-5D39-10D2-B95CBB636856}"/>
              </a:ext>
            </a:extLst>
          </p:cNvPr>
          <p:cNvSpPr txBox="1"/>
          <p:nvPr/>
        </p:nvSpPr>
        <p:spPr>
          <a:xfrm>
            <a:off x="9411832" y="5997912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…</a:t>
            </a:r>
            <a:endParaRPr kumimoji="1" lang="ja-JP" alt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77" name="直線コネクタ 176">
            <a:extLst>
              <a:ext uri="{FF2B5EF4-FFF2-40B4-BE49-F238E27FC236}">
                <a16:creationId xmlns:a16="http://schemas.microsoft.com/office/drawing/2014/main" id="{FB942341-410A-B027-1475-ABACB671F707}"/>
              </a:ext>
            </a:extLst>
          </p:cNvPr>
          <p:cNvCxnSpPr>
            <a:cxnSpLocks/>
          </p:cNvCxnSpPr>
          <p:nvPr/>
        </p:nvCxnSpPr>
        <p:spPr>
          <a:xfrm>
            <a:off x="3787588" y="1075169"/>
            <a:ext cx="0" cy="1662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直線コネクタ 265">
            <a:extLst>
              <a:ext uri="{FF2B5EF4-FFF2-40B4-BE49-F238E27FC236}">
                <a16:creationId xmlns:a16="http://schemas.microsoft.com/office/drawing/2014/main" id="{3C672B47-235F-471C-C61B-9E686BBC3C3B}"/>
              </a:ext>
            </a:extLst>
          </p:cNvPr>
          <p:cNvCxnSpPr>
            <a:cxnSpLocks/>
          </p:cNvCxnSpPr>
          <p:nvPr/>
        </p:nvCxnSpPr>
        <p:spPr>
          <a:xfrm>
            <a:off x="3834593" y="1422195"/>
            <a:ext cx="0" cy="68439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2" name="四角形: 角を丸くする 271">
            <a:extLst>
              <a:ext uri="{FF2B5EF4-FFF2-40B4-BE49-F238E27FC236}">
                <a16:creationId xmlns:a16="http://schemas.microsoft.com/office/drawing/2014/main" id="{B34FD1E2-6A12-1D21-0658-4A31C7CEE1F8}"/>
              </a:ext>
            </a:extLst>
          </p:cNvPr>
          <p:cNvSpPr/>
          <p:nvPr/>
        </p:nvSpPr>
        <p:spPr>
          <a:xfrm>
            <a:off x="3283644" y="4189734"/>
            <a:ext cx="2497456" cy="21134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VS Code Server(</a:t>
            </a:r>
            <a:r>
              <a: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バックエンド</a:t>
            </a:r>
            <a:r>
              <a:rPr kumimoji="1"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3" name="四角形: 角を丸くする 272">
            <a:extLst>
              <a:ext uri="{FF2B5EF4-FFF2-40B4-BE49-F238E27FC236}">
                <a16:creationId xmlns:a16="http://schemas.microsoft.com/office/drawing/2014/main" id="{CECA6404-A7A5-9C36-E290-53EB68077C34}"/>
              </a:ext>
            </a:extLst>
          </p:cNvPr>
          <p:cNvSpPr/>
          <p:nvPr/>
        </p:nvSpPr>
        <p:spPr>
          <a:xfrm>
            <a:off x="3237346" y="4459491"/>
            <a:ext cx="2497456" cy="41062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セキュリティ診断ツール</a:t>
            </a:r>
          </a:p>
        </p:txBody>
      </p:sp>
      <p:sp>
        <p:nvSpPr>
          <p:cNvPr id="309" name="テキスト ボックス 308">
            <a:extLst>
              <a:ext uri="{FF2B5EF4-FFF2-40B4-BE49-F238E27FC236}">
                <a16:creationId xmlns:a16="http://schemas.microsoft.com/office/drawing/2014/main" id="{6358B1E0-D411-A7D5-3DB4-720647149BCE}"/>
              </a:ext>
            </a:extLst>
          </p:cNvPr>
          <p:cNvSpPr txBox="1"/>
          <p:nvPr/>
        </p:nvSpPr>
        <p:spPr>
          <a:xfrm>
            <a:off x="6251589" y="2190786"/>
            <a:ext cx="21170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WSL vEthernet</a:t>
            </a:r>
          </a:p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172.30.208.1</a:t>
            </a:r>
            <a:endParaRPr lang="ja-JP" alt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1" name="四角形: 角を丸くする 310">
            <a:extLst>
              <a:ext uri="{FF2B5EF4-FFF2-40B4-BE49-F238E27FC236}">
                <a16:creationId xmlns:a16="http://schemas.microsoft.com/office/drawing/2014/main" id="{2D739917-F3FA-FD01-F723-E37ECC94BDBD}"/>
              </a:ext>
            </a:extLst>
          </p:cNvPr>
          <p:cNvSpPr/>
          <p:nvPr/>
        </p:nvSpPr>
        <p:spPr>
          <a:xfrm>
            <a:off x="10067006" y="1833079"/>
            <a:ext cx="1528066" cy="338555"/>
          </a:xfrm>
          <a:prstGeom prst="roundRect">
            <a:avLst>
              <a:gd name="adj" fmla="val 20385"/>
            </a:avLst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ln/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Windows11</a:t>
            </a:r>
            <a:endParaRPr lang="ja-JP" altLang="en-US" dirty="0">
              <a:ln/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313" name="四角形: 角を丸くする 312">
            <a:extLst>
              <a:ext uri="{FF2B5EF4-FFF2-40B4-BE49-F238E27FC236}">
                <a16:creationId xmlns:a16="http://schemas.microsoft.com/office/drawing/2014/main" id="{098A0EC9-15B5-5556-C22C-09AD7A7B057F}"/>
              </a:ext>
            </a:extLst>
          </p:cNvPr>
          <p:cNvSpPr/>
          <p:nvPr/>
        </p:nvSpPr>
        <p:spPr>
          <a:xfrm>
            <a:off x="8746960" y="2125012"/>
            <a:ext cx="773438" cy="239666"/>
          </a:xfrm>
          <a:prstGeom prst="roundRect">
            <a:avLst>
              <a:gd name="adj" fmla="val 20385"/>
            </a:avLst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ln/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WSL</a:t>
            </a:r>
            <a:endParaRPr lang="ja-JP" altLang="en-US" sz="1400" dirty="0">
              <a:ln/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314" name="四角形: 角を丸くする 313">
            <a:extLst>
              <a:ext uri="{FF2B5EF4-FFF2-40B4-BE49-F238E27FC236}">
                <a16:creationId xmlns:a16="http://schemas.microsoft.com/office/drawing/2014/main" id="{D02D2CD7-22A0-DE8A-D30E-E2DBAD83689F}"/>
              </a:ext>
            </a:extLst>
          </p:cNvPr>
          <p:cNvSpPr/>
          <p:nvPr/>
        </p:nvSpPr>
        <p:spPr>
          <a:xfrm>
            <a:off x="10424992" y="3540165"/>
            <a:ext cx="1126090" cy="269046"/>
          </a:xfrm>
          <a:prstGeom prst="roundRect">
            <a:avLst>
              <a:gd name="adj" fmla="val 20385"/>
            </a:avLst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ln/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VirtualBox</a:t>
            </a:r>
            <a:endParaRPr lang="ja-JP" altLang="en-US" sz="1400" dirty="0">
              <a:ln/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pic>
        <p:nvPicPr>
          <p:cNvPr id="316" name="グラフィックス 315" descr="コンピューター 単色塗りつぶし">
            <a:extLst>
              <a:ext uri="{FF2B5EF4-FFF2-40B4-BE49-F238E27FC236}">
                <a16:creationId xmlns:a16="http://schemas.microsoft.com/office/drawing/2014/main" id="{1EDBE0B6-E213-7ED9-5FEB-349253E55B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6811" y="5982654"/>
            <a:ext cx="690128" cy="690128"/>
          </a:xfrm>
          <a:prstGeom prst="rect">
            <a:avLst/>
          </a:prstGeom>
        </p:spPr>
      </p:pic>
      <p:pic>
        <p:nvPicPr>
          <p:cNvPr id="323" name="グラフィックス 322" descr="コンピューター 単色塗りつぶし">
            <a:extLst>
              <a:ext uri="{FF2B5EF4-FFF2-40B4-BE49-F238E27FC236}">
                <a16:creationId xmlns:a16="http://schemas.microsoft.com/office/drawing/2014/main" id="{2E1133BF-7213-A06A-0D33-B817E5C806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42518" y="3901760"/>
            <a:ext cx="637886" cy="637886"/>
          </a:xfrm>
          <a:prstGeom prst="rect">
            <a:avLst/>
          </a:prstGeom>
        </p:spPr>
      </p:pic>
      <p:sp>
        <p:nvSpPr>
          <p:cNvPr id="325" name="テキスト ボックス 324">
            <a:extLst>
              <a:ext uri="{FF2B5EF4-FFF2-40B4-BE49-F238E27FC236}">
                <a16:creationId xmlns:a16="http://schemas.microsoft.com/office/drawing/2014/main" id="{AE020B0C-8439-91C6-B901-921482AC0E6D}"/>
              </a:ext>
            </a:extLst>
          </p:cNvPr>
          <p:cNvSpPr txBox="1"/>
          <p:nvPr/>
        </p:nvSpPr>
        <p:spPr>
          <a:xfrm>
            <a:off x="8932840" y="3969003"/>
            <a:ext cx="179426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Metasploitable2</a:t>
            </a:r>
          </a:p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192.168.13.141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pic>
        <p:nvPicPr>
          <p:cNvPr id="326" name="グラフィックス 325" descr="コンピューター 単色塗りつぶし">
            <a:extLst>
              <a:ext uri="{FF2B5EF4-FFF2-40B4-BE49-F238E27FC236}">
                <a16:creationId xmlns:a16="http://schemas.microsoft.com/office/drawing/2014/main" id="{E74F6E74-3503-0E2C-8100-CEEA24461A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98388" y="4620552"/>
            <a:ext cx="637886" cy="637886"/>
          </a:xfrm>
          <a:prstGeom prst="rect">
            <a:avLst/>
          </a:prstGeom>
        </p:spPr>
      </p:pic>
      <p:sp>
        <p:nvSpPr>
          <p:cNvPr id="327" name="テキスト ボックス 326">
            <a:extLst>
              <a:ext uri="{FF2B5EF4-FFF2-40B4-BE49-F238E27FC236}">
                <a16:creationId xmlns:a16="http://schemas.microsoft.com/office/drawing/2014/main" id="{AF4D6FEE-ACF7-65D7-A181-B08216983255}"/>
              </a:ext>
            </a:extLst>
          </p:cNvPr>
          <p:cNvSpPr txBox="1"/>
          <p:nvPr/>
        </p:nvSpPr>
        <p:spPr>
          <a:xfrm>
            <a:off x="10266154" y="4692686"/>
            <a:ext cx="179426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その他の検証対象</a:t>
            </a:r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192.168.13.x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329" name="テキスト ボックス 328">
            <a:extLst>
              <a:ext uri="{FF2B5EF4-FFF2-40B4-BE49-F238E27FC236}">
                <a16:creationId xmlns:a16="http://schemas.microsoft.com/office/drawing/2014/main" id="{93B58F75-8175-B02B-F1D8-B6787F8C86C4}"/>
              </a:ext>
            </a:extLst>
          </p:cNvPr>
          <p:cNvSpPr txBox="1"/>
          <p:nvPr/>
        </p:nvSpPr>
        <p:spPr>
          <a:xfrm>
            <a:off x="4106105" y="6110098"/>
            <a:ext cx="147106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Ubuntu18.04</a:t>
            </a:r>
          </a:p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192.168.64.2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pic>
        <p:nvPicPr>
          <p:cNvPr id="330" name="グラフィックス 329" descr="コンピューター 単色塗りつぶし">
            <a:extLst>
              <a:ext uri="{FF2B5EF4-FFF2-40B4-BE49-F238E27FC236}">
                <a16:creationId xmlns:a16="http://schemas.microsoft.com/office/drawing/2014/main" id="{72B8A7DA-9A53-CF1B-76ED-2DD4063CA9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38516" y="5982654"/>
            <a:ext cx="690128" cy="690128"/>
          </a:xfrm>
          <a:prstGeom prst="rect">
            <a:avLst/>
          </a:prstGeom>
        </p:spPr>
      </p:pic>
      <p:sp>
        <p:nvSpPr>
          <p:cNvPr id="332" name="テキスト ボックス 331">
            <a:extLst>
              <a:ext uri="{FF2B5EF4-FFF2-40B4-BE49-F238E27FC236}">
                <a16:creationId xmlns:a16="http://schemas.microsoft.com/office/drawing/2014/main" id="{FF823119-6C7D-D49B-60B1-66A10214EEB5}"/>
              </a:ext>
            </a:extLst>
          </p:cNvPr>
          <p:cNvSpPr txBox="1"/>
          <p:nvPr/>
        </p:nvSpPr>
        <p:spPr>
          <a:xfrm>
            <a:off x="6131181" y="6079320"/>
            <a:ext cx="174201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4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Ubuntu24.04</a:t>
            </a:r>
          </a:p>
          <a:p>
            <a:pPr algn="ctr"/>
            <a:r>
              <a:rPr lang="en-US" altLang="ja-JP" sz="14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192.168.64.4</a:t>
            </a:r>
            <a:endParaRPr lang="ja-JP" altLang="en-US" sz="14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pic>
        <p:nvPicPr>
          <p:cNvPr id="335" name="グラフィックス 334" descr="コンピューター 単色塗りつぶし">
            <a:extLst>
              <a:ext uri="{FF2B5EF4-FFF2-40B4-BE49-F238E27FC236}">
                <a16:creationId xmlns:a16="http://schemas.microsoft.com/office/drawing/2014/main" id="{BC2C835E-B07A-E51D-C846-370794D52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86453" y="5982654"/>
            <a:ext cx="690128" cy="690128"/>
          </a:xfrm>
          <a:prstGeom prst="rect">
            <a:avLst/>
          </a:prstGeom>
        </p:spPr>
      </p:pic>
      <p:sp>
        <p:nvSpPr>
          <p:cNvPr id="336" name="テキスト ボックス 335">
            <a:extLst>
              <a:ext uri="{FF2B5EF4-FFF2-40B4-BE49-F238E27FC236}">
                <a16:creationId xmlns:a16="http://schemas.microsoft.com/office/drawing/2014/main" id="{CA69980B-2D4A-6325-41FB-2BA8CAABEAA9}"/>
              </a:ext>
            </a:extLst>
          </p:cNvPr>
          <p:cNvSpPr txBox="1"/>
          <p:nvPr/>
        </p:nvSpPr>
        <p:spPr>
          <a:xfrm>
            <a:off x="8301854" y="6079320"/>
            <a:ext cx="174201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4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その他の検証対象</a:t>
            </a:r>
            <a:r>
              <a:rPr lang="en-US" altLang="ja-JP" sz="14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192.168.64.x</a:t>
            </a:r>
            <a:endParaRPr lang="ja-JP" altLang="en-US" sz="14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340" name="四角形: 角を丸くする 339">
            <a:extLst>
              <a:ext uri="{FF2B5EF4-FFF2-40B4-BE49-F238E27FC236}">
                <a16:creationId xmlns:a16="http://schemas.microsoft.com/office/drawing/2014/main" id="{2FAF170F-E2EE-72CD-BBDF-C84507090BDA}"/>
              </a:ext>
            </a:extLst>
          </p:cNvPr>
          <p:cNvSpPr/>
          <p:nvPr/>
        </p:nvSpPr>
        <p:spPr>
          <a:xfrm>
            <a:off x="3698649" y="3886315"/>
            <a:ext cx="1126090" cy="269046"/>
          </a:xfrm>
          <a:prstGeom prst="roundRect">
            <a:avLst>
              <a:gd name="adj" fmla="val 20385"/>
            </a:avLst>
          </a:prstGeom>
          <a:solidFill>
            <a:srgbClr val="DF29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ln/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kali Linux</a:t>
            </a:r>
            <a:endParaRPr lang="ja-JP" altLang="en-US" sz="1400" dirty="0">
              <a:ln/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cxnSp>
        <p:nvCxnSpPr>
          <p:cNvPr id="342" name="直線コネクタ 341">
            <a:extLst>
              <a:ext uri="{FF2B5EF4-FFF2-40B4-BE49-F238E27FC236}">
                <a16:creationId xmlns:a16="http://schemas.microsoft.com/office/drawing/2014/main" id="{BEEBD69F-BD86-4F44-E372-6BABD68D48A1}"/>
              </a:ext>
            </a:extLst>
          </p:cNvPr>
          <p:cNvCxnSpPr>
            <a:cxnSpLocks/>
          </p:cNvCxnSpPr>
          <p:nvPr/>
        </p:nvCxnSpPr>
        <p:spPr>
          <a:xfrm>
            <a:off x="2125903" y="5867043"/>
            <a:ext cx="659704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直線コネクタ 355">
            <a:extLst>
              <a:ext uri="{FF2B5EF4-FFF2-40B4-BE49-F238E27FC236}">
                <a16:creationId xmlns:a16="http://schemas.microsoft.com/office/drawing/2014/main" id="{4336F390-8699-DFF8-724E-A9A77BD827B5}"/>
              </a:ext>
            </a:extLst>
          </p:cNvPr>
          <p:cNvCxnSpPr>
            <a:cxnSpLocks/>
          </p:cNvCxnSpPr>
          <p:nvPr/>
        </p:nvCxnSpPr>
        <p:spPr>
          <a:xfrm>
            <a:off x="5945022" y="4570381"/>
            <a:ext cx="48613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直線コネクタ 357">
            <a:extLst>
              <a:ext uri="{FF2B5EF4-FFF2-40B4-BE49-F238E27FC236}">
                <a16:creationId xmlns:a16="http://schemas.microsoft.com/office/drawing/2014/main" id="{7275DA1C-6CC3-C038-AE26-B1ED2F200781}"/>
              </a:ext>
            </a:extLst>
          </p:cNvPr>
          <p:cNvCxnSpPr>
            <a:cxnSpLocks/>
          </p:cNvCxnSpPr>
          <p:nvPr/>
        </p:nvCxnSpPr>
        <p:spPr>
          <a:xfrm>
            <a:off x="9056255" y="4399344"/>
            <a:ext cx="0" cy="17150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直線コネクタ 360">
            <a:extLst>
              <a:ext uri="{FF2B5EF4-FFF2-40B4-BE49-F238E27FC236}">
                <a16:creationId xmlns:a16="http://schemas.microsoft.com/office/drawing/2014/main" id="{E92627AF-73A9-1F93-98B4-652DB82BA8CA}"/>
              </a:ext>
            </a:extLst>
          </p:cNvPr>
          <p:cNvCxnSpPr>
            <a:cxnSpLocks/>
          </p:cNvCxnSpPr>
          <p:nvPr/>
        </p:nvCxnSpPr>
        <p:spPr>
          <a:xfrm>
            <a:off x="4183313" y="5858347"/>
            <a:ext cx="0" cy="2546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直線コネクタ 363">
            <a:extLst>
              <a:ext uri="{FF2B5EF4-FFF2-40B4-BE49-F238E27FC236}">
                <a16:creationId xmlns:a16="http://schemas.microsoft.com/office/drawing/2014/main" id="{BF3DBEC2-D191-0707-FF6A-6B7661D52663}"/>
              </a:ext>
            </a:extLst>
          </p:cNvPr>
          <p:cNvCxnSpPr>
            <a:cxnSpLocks/>
          </p:cNvCxnSpPr>
          <p:nvPr/>
        </p:nvCxnSpPr>
        <p:spPr>
          <a:xfrm>
            <a:off x="6301480" y="5858347"/>
            <a:ext cx="0" cy="2546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直線コネクタ 364">
            <a:extLst>
              <a:ext uri="{FF2B5EF4-FFF2-40B4-BE49-F238E27FC236}">
                <a16:creationId xmlns:a16="http://schemas.microsoft.com/office/drawing/2014/main" id="{2CB79990-EFC1-A43F-E686-52FF52B0813E}"/>
              </a:ext>
            </a:extLst>
          </p:cNvPr>
          <p:cNvCxnSpPr>
            <a:cxnSpLocks/>
          </p:cNvCxnSpPr>
          <p:nvPr/>
        </p:nvCxnSpPr>
        <p:spPr>
          <a:xfrm>
            <a:off x="8338625" y="5858347"/>
            <a:ext cx="0" cy="2546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直線コネクタ 365">
            <a:extLst>
              <a:ext uri="{FF2B5EF4-FFF2-40B4-BE49-F238E27FC236}">
                <a16:creationId xmlns:a16="http://schemas.microsoft.com/office/drawing/2014/main" id="{72AE3158-F1E5-36BB-8847-0E91E0E963C5}"/>
              </a:ext>
            </a:extLst>
          </p:cNvPr>
          <p:cNvCxnSpPr>
            <a:cxnSpLocks/>
          </p:cNvCxnSpPr>
          <p:nvPr/>
        </p:nvCxnSpPr>
        <p:spPr>
          <a:xfrm>
            <a:off x="3778199" y="4943651"/>
            <a:ext cx="0" cy="937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0" name="テキスト ボックス 369">
            <a:extLst>
              <a:ext uri="{FF2B5EF4-FFF2-40B4-BE49-F238E27FC236}">
                <a16:creationId xmlns:a16="http://schemas.microsoft.com/office/drawing/2014/main" id="{0527034E-A2CB-0316-76F9-73C0E72FACA8}"/>
              </a:ext>
            </a:extLst>
          </p:cNvPr>
          <p:cNvSpPr txBox="1"/>
          <p:nvPr/>
        </p:nvSpPr>
        <p:spPr>
          <a:xfrm>
            <a:off x="3585244" y="4952332"/>
            <a:ext cx="22787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Bridge 192.168.64.3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373" name="テキスト ボックス 372">
            <a:extLst>
              <a:ext uri="{FF2B5EF4-FFF2-40B4-BE49-F238E27FC236}">
                <a16:creationId xmlns:a16="http://schemas.microsoft.com/office/drawing/2014/main" id="{9D61F707-F11F-02BE-3E61-00981C6E7752}"/>
              </a:ext>
            </a:extLst>
          </p:cNvPr>
          <p:cNvSpPr txBox="1"/>
          <p:nvPr/>
        </p:nvSpPr>
        <p:spPr>
          <a:xfrm>
            <a:off x="5878468" y="4336906"/>
            <a:ext cx="147866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Internal </a:t>
            </a:r>
          </a:p>
          <a:p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192.168.13.140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cxnSp>
        <p:nvCxnSpPr>
          <p:cNvPr id="375" name="直線コネクタ 374">
            <a:extLst>
              <a:ext uri="{FF2B5EF4-FFF2-40B4-BE49-F238E27FC236}">
                <a16:creationId xmlns:a16="http://schemas.microsoft.com/office/drawing/2014/main" id="{E25A631F-DC94-B383-9CBF-BBA403C1EFC1}"/>
              </a:ext>
            </a:extLst>
          </p:cNvPr>
          <p:cNvCxnSpPr>
            <a:cxnSpLocks/>
          </p:cNvCxnSpPr>
          <p:nvPr/>
        </p:nvCxnSpPr>
        <p:spPr>
          <a:xfrm>
            <a:off x="3828387" y="2963119"/>
            <a:ext cx="0" cy="9444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9" name="テキスト ボックス 378">
            <a:extLst>
              <a:ext uri="{FF2B5EF4-FFF2-40B4-BE49-F238E27FC236}">
                <a16:creationId xmlns:a16="http://schemas.microsoft.com/office/drawing/2014/main" id="{D7CAC7E7-884C-9B8F-4280-47C3CC5A6032}"/>
              </a:ext>
            </a:extLst>
          </p:cNvPr>
          <p:cNvSpPr txBox="1"/>
          <p:nvPr/>
        </p:nvSpPr>
        <p:spPr>
          <a:xfrm>
            <a:off x="3649094" y="3411247"/>
            <a:ext cx="130813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1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Host Only </a:t>
            </a:r>
          </a:p>
          <a:p>
            <a:pPr algn="ctr"/>
            <a:r>
              <a:rPr lang="en-US" altLang="ja-JP" sz="11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192.168.56.7 </a:t>
            </a:r>
            <a:endParaRPr lang="ja-JP" altLang="en-US" sz="11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cxnSp>
        <p:nvCxnSpPr>
          <p:cNvPr id="380" name="直線コネクタ 379">
            <a:extLst>
              <a:ext uri="{FF2B5EF4-FFF2-40B4-BE49-F238E27FC236}">
                <a16:creationId xmlns:a16="http://schemas.microsoft.com/office/drawing/2014/main" id="{09369F75-ACD6-B431-1418-2150CA551CE9}"/>
              </a:ext>
            </a:extLst>
          </p:cNvPr>
          <p:cNvCxnSpPr>
            <a:cxnSpLocks/>
          </p:cNvCxnSpPr>
          <p:nvPr/>
        </p:nvCxnSpPr>
        <p:spPr>
          <a:xfrm>
            <a:off x="2354513" y="5290891"/>
            <a:ext cx="0" cy="5903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5" name="テキスト ボックス 384">
            <a:extLst>
              <a:ext uri="{FF2B5EF4-FFF2-40B4-BE49-F238E27FC236}">
                <a16:creationId xmlns:a16="http://schemas.microsoft.com/office/drawing/2014/main" id="{B6DBEEC7-DBCD-9CA6-5EDF-1F37FF473D0B}"/>
              </a:ext>
            </a:extLst>
          </p:cNvPr>
          <p:cNvSpPr txBox="1"/>
          <p:nvPr/>
        </p:nvSpPr>
        <p:spPr>
          <a:xfrm>
            <a:off x="664073" y="5054139"/>
            <a:ext cx="20284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EtherNet</a:t>
            </a:r>
          </a:p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192.168.64.1</a:t>
            </a:r>
          </a:p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No GW setting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cxnSp>
        <p:nvCxnSpPr>
          <p:cNvPr id="386" name="直線コネクタ 385">
            <a:extLst>
              <a:ext uri="{FF2B5EF4-FFF2-40B4-BE49-F238E27FC236}">
                <a16:creationId xmlns:a16="http://schemas.microsoft.com/office/drawing/2014/main" id="{5687409A-EC47-FECE-3BB0-9E9424A643E3}"/>
              </a:ext>
            </a:extLst>
          </p:cNvPr>
          <p:cNvCxnSpPr>
            <a:cxnSpLocks/>
          </p:cNvCxnSpPr>
          <p:nvPr/>
        </p:nvCxnSpPr>
        <p:spPr>
          <a:xfrm>
            <a:off x="5319989" y="2763469"/>
            <a:ext cx="25348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7" name="四角形: 角を丸くする 386">
            <a:extLst>
              <a:ext uri="{FF2B5EF4-FFF2-40B4-BE49-F238E27FC236}">
                <a16:creationId xmlns:a16="http://schemas.microsoft.com/office/drawing/2014/main" id="{4C4C2905-C5F8-A53D-E1B9-0C62ACD0E402}"/>
              </a:ext>
            </a:extLst>
          </p:cNvPr>
          <p:cNvSpPr/>
          <p:nvPr/>
        </p:nvSpPr>
        <p:spPr>
          <a:xfrm>
            <a:off x="3099387" y="2129742"/>
            <a:ext cx="2266900" cy="821802"/>
          </a:xfrm>
          <a:prstGeom prst="roundRect">
            <a:avLst>
              <a:gd name="adj" fmla="val 538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397" name="グラフィックス 396" descr="サーバー 単色塗りつぶし">
            <a:extLst>
              <a:ext uri="{FF2B5EF4-FFF2-40B4-BE49-F238E27FC236}">
                <a16:creationId xmlns:a16="http://schemas.microsoft.com/office/drawing/2014/main" id="{43A040AF-0149-DD9B-A809-CDEAC98122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85716" y="1195754"/>
            <a:ext cx="426712" cy="426712"/>
          </a:xfrm>
          <a:prstGeom prst="rect">
            <a:avLst/>
          </a:prstGeom>
        </p:spPr>
      </p:pic>
      <p:sp>
        <p:nvSpPr>
          <p:cNvPr id="400" name="テキスト ボックス 399">
            <a:extLst>
              <a:ext uri="{FF2B5EF4-FFF2-40B4-BE49-F238E27FC236}">
                <a16:creationId xmlns:a16="http://schemas.microsoft.com/office/drawing/2014/main" id="{9E2F31C0-8C35-02BA-971F-FDA0E293360D}"/>
              </a:ext>
            </a:extLst>
          </p:cNvPr>
          <p:cNvSpPr txBox="1"/>
          <p:nvPr/>
        </p:nvSpPr>
        <p:spPr>
          <a:xfrm>
            <a:off x="4123376" y="698087"/>
            <a:ext cx="220787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Google/Microsoft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pic>
        <p:nvPicPr>
          <p:cNvPr id="402" name="グラフィックス 401" descr="コンピューター 単色塗りつぶし">
            <a:extLst>
              <a:ext uri="{FF2B5EF4-FFF2-40B4-BE49-F238E27FC236}">
                <a16:creationId xmlns:a16="http://schemas.microsoft.com/office/drawing/2014/main" id="{CAB414AA-14B0-8B32-61C3-C6F21F0CCC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24711" y="2444018"/>
            <a:ext cx="637886" cy="637886"/>
          </a:xfrm>
          <a:prstGeom prst="rect">
            <a:avLst/>
          </a:prstGeom>
        </p:spPr>
      </p:pic>
      <p:sp>
        <p:nvSpPr>
          <p:cNvPr id="404" name="テキスト ボックス 403">
            <a:extLst>
              <a:ext uri="{FF2B5EF4-FFF2-40B4-BE49-F238E27FC236}">
                <a16:creationId xmlns:a16="http://schemas.microsoft.com/office/drawing/2014/main" id="{529CEB14-A413-5959-F3A0-C37F5F5D5FAB}"/>
              </a:ext>
            </a:extLst>
          </p:cNvPr>
          <p:cNvSpPr txBox="1"/>
          <p:nvPr/>
        </p:nvSpPr>
        <p:spPr>
          <a:xfrm>
            <a:off x="7406470" y="2519095"/>
            <a:ext cx="31813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Ubuntu</a:t>
            </a:r>
          </a:p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TinyProxy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405" name="テキスト ボックス 404">
            <a:extLst>
              <a:ext uri="{FF2B5EF4-FFF2-40B4-BE49-F238E27FC236}">
                <a16:creationId xmlns:a16="http://schemas.microsoft.com/office/drawing/2014/main" id="{0CAEEE76-9909-B905-7F23-138D5212F671}"/>
              </a:ext>
            </a:extLst>
          </p:cNvPr>
          <p:cNvSpPr txBox="1"/>
          <p:nvPr/>
        </p:nvSpPr>
        <p:spPr>
          <a:xfrm>
            <a:off x="2862448" y="2211888"/>
            <a:ext cx="21170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Windows</a:t>
            </a:r>
          </a:p>
          <a:p>
            <a:pPr algn="ctr"/>
            <a:r>
              <a: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仮想ネットワーク</a:t>
            </a:r>
            <a:endParaRPr lang="en-US" altLang="ja-JP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スタック</a:t>
            </a:r>
          </a:p>
        </p:txBody>
      </p:sp>
      <p:sp>
        <p:nvSpPr>
          <p:cNvPr id="406" name="四角形: 角を丸くする 405">
            <a:extLst>
              <a:ext uri="{FF2B5EF4-FFF2-40B4-BE49-F238E27FC236}">
                <a16:creationId xmlns:a16="http://schemas.microsoft.com/office/drawing/2014/main" id="{DA4B6C65-489B-2C47-9DA9-008BE8A3AF66}"/>
              </a:ext>
            </a:extLst>
          </p:cNvPr>
          <p:cNvSpPr/>
          <p:nvPr/>
        </p:nvSpPr>
        <p:spPr>
          <a:xfrm>
            <a:off x="798653" y="2225041"/>
            <a:ext cx="1224287" cy="655320"/>
          </a:xfrm>
          <a:prstGeom prst="roundRect">
            <a:avLst>
              <a:gd name="adj" fmla="val 5380"/>
            </a:avLst>
          </a:prstGeom>
          <a:solidFill>
            <a:schemeClr val="bg1"/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07" name="テキスト ボックス 406">
            <a:extLst>
              <a:ext uri="{FF2B5EF4-FFF2-40B4-BE49-F238E27FC236}">
                <a16:creationId xmlns:a16="http://schemas.microsoft.com/office/drawing/2014/main" id="{850858B7-07F6-D1DA-64E0-DB619D0FDB17}"/>
              </a:ext>
            </a:extLst>
          </p:cNvPr>
          <p:cNvSpPr txBox="1"/>
          <p:nvPr/>
        </p:nvSpPr>
        <p:spPr>
          <a:xfrm>
            <a:off x="742916" y="2373666"/>
            <a:ext cx="13398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VSCode</a:t>
            </a:r>
          </a:p>
          <a:p>
            <a:pPr algn="ctr"/>
            <a:r>
              <a: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クライアント</a:t>
            </a:r>
            <a:r>
              <a: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408" name="直線コネクタ 407">
            <a:extLst>
              <a:ext uri="{FF2B5EF4-FFF2-40B4-BE49-F238E27FC236}">
                <a16:creationId xmlns:a16="http://schemas.microsoft.com/office/drawing/2014/main" id="{59AD4AD2-D510-82B2-6DB3-BAB6B84B893E}"/>
              </a:ext>
            </a:extLst>
          </p:cNvPr>
          <p:cNvCxnSpPr>
            <a:cxnSpLocks/>
          </p:cNvCxnSpPr>
          <p:nvPr/>
        </p:nvCxnSpPr>
        <p:spPr>
          <a:xfrm>
            <a:off x="2022940" y="2542113"/>
            <a:ext cx="10972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0" name="テキスト ボックス 409">
            <a:extLst>
              <a:ext uri="{FF2B5EF4-FFF2-40B4-BE49-F238E27FC236}">
                <a16:creationId xmlns:a16="http://schemas.microsoft.com/office/drawing/2014/main" id="{663FA46B-D5DE-66AF-2905-D658646D7FB7}"/>
              </a:ext>
            </a:extLst>
          </p:cNvPr>
          <p:cNvSpPr txBox="1"/>
          <p:nvPr/>
        </p:nvSpPr>
        <p:spPr>
          <a:xfrm>
            <a:off x="1817103" y="3137077"/>
            <a:ext cx="800197" cy="276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SSH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cxnSp>
        <p:nvCxnSpPr>
          <p:cNvPr id="412" name="直線コネクタ 411">
            <a:extLst>
              <a:ext uri="{FF2B5EF4-FFF2-40B4-BE49-F238E27FC236}">
                <a16:creationId xmlns:a16="http://schemas.microsoft.com/office/drawing/2014/main" id="{90289072-8F1F-4EF6-5058-0FA80F199238}"/>
              </a:ext>
            </a:extLst>
          </p:cNvPr>
          <p:cNvCxnSpPr>
            <a:cxnSpLocks/>
          </p:cNvCxnSpPr>
          <p:nvPr/>
        </p:nvCxnSpPr>
        <p:spPr>
          <a:xfrm>
            <a:off x="2022940" y="2823376"/>
            <a:ext cx="1615440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直線コネクタ 412">
            <a:extLst>
              <a:ext uri="{FF2B5EF4-FFF2-40B4-BE49-F238E27FC236}">
                <a16:creationId xmlns:a16="http://schemas.microsoft.com/office/drawing/2014/main" id="{11440D66-5BAF-2DBB-C6C0-ECD20173E483}"/>
              </a:ext>
            </a:extLst>
          </p:cNvPr>
          <p:cNvCxnSpPr>
            <a:cxnSpLocks/>
          </p:cNvCxnSpPr>
          <p:nvPr/>
        </p:nvCxnSpPr>
        <p:spPr>
          <a:xfrm>
            <a:off x="3623140" y="2804160"/>
            <a:ext cx="0" cy="1377696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直線コネクタ 414">
            <a:extLst>
              <a:ext uri="{FF2B5EF4-FFF2-40B4-BE49-F238E27FC236}">
                <a16:creationId xmlns:a16="http://schemas.microsoft.com/office/drawing/2014/main" id="{69E3DA7B-9152-B259-3E02-6E4C52209D0C}"/>
              </a:ext>
            </a:extLst>
          </p:cNvPr>
          <p:cNvCxnSpPr>
            <a:cxnSpLocks/>
          </p:cNvCxnSpPr>
          <p:nvPr/>
        </p:nvCxnSpPr>
        <p:spPr>
          <a:xfrm>
            <a:off x="5019388" y="2840736"/>
            <a:ext cx="0" cy="1316736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直線コネクタ 415">
            <a:extLst>
              <a:ext uri="{FF2B5EF4-FFF2-40B4-BE49-F238E27FC236}">
                <a16:creationId xmlns:a16="http://schemas.microsoft.com/office/drawing/2014/main" id="{B92A9BF2-098D-4C23-8E0E-F3E7DB539AC9}"/>
              </a:ext>
            </a:extLst>
          </p:cNvPr>
          <p:cNvCxnSpPr>
            <a:cxnSpLocks/>
          </p:cNvCxnSpPr>
          <p:nvPr/>
        </p:nvCxnSpPr>
        <p:spPr>
          <a:xfrm flipH="1">
            <a:off x="4992624" y="2865120"/>
            <a:ext cx="2882476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直線コネクタ 417">
            <a:extLst>
              <a:ext uri="{FF2B5EF4-FFF2-40B4-BE49-F238E27FC236}">
                <a16:creationId xmlns:a16="http://schemas.microsoft.com/office/drawing/2014/main" id="{6B3A0B28-6090-CF35-4BFA-AC77168692B7}"/>
              </a:ext>
            </a:extLst>
          </p:cNvPr>
          <p:cNvCxnSpPr>
            <a:cxnSpLocks/>
          </p:cNvCxnSpPr>
          <p:nvPr/>
        </p:nvCxnSpPr>
        <p:spPr>
          <a:xfrm flipH="1">
            <a:off x="5009322" y="2651760"/>
            <a:ext cx="2865778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直線コネクタ 418">
            <a:extLst>
              <a:ext uri="{FF2B5EF4-FFF2-40B4-BE49-F238E27FC236}">
                <a16:creationId xmlns:a16="http://schemas.microsoft.com/office/drawing/2014/main" id="{48438A5C-A57C-62EC-F00D-0F8827EBF3E9}"/>
              </a:ext>
            </a:extLst>
          </p:cNvPr>
          <p:cNvCxnSpPr>
            <a:cxnSpLocks/>
          </p:cNvCxnSpPr>
          <p:nvPr/>
        </p:nvCxnSpPr>
        <p:spPr>
          <a:xfrm>
            <a:off x="5033170" y="954593"/>
            <a:ext cx="0" cy="1697167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テキスト ボックス 306">
            <a:extLst>
              <a:ext uri="{FF2B5EF4-FFF2-40B4-BE49-F238E27FC236}">
                <a16:creationId xmlns:a16="http://schemas.microsoft.com/office/drawing/2014/main" id="{6A74A980-50EC-5A40-E62A-5C8D148AC740}"/>
              </a:ext>
            </a:extLst>
          </p:cNvPr>
          <p:cNvSpPr txBox="1"/>
          <p:nvPr/>
        </p:nvSpPr>
        <p:spPr>
          <a:xfrm>
            <a:off x="2068557" y="1202565"/>
            <a:ext cx="18380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ホームルータ</a:t>
            </a:r>
            <a:endParaRPr lang="en-US" altLang="ja-JP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192.168.12.1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395" name="テキスト ボックス 394">
            <a:extLst>
              <a:ext uri="{FF2B5EF4-FFF2-40B4-BE49-F238E27FC236}">
                <a16:creationId xmlns:a16="http://schemas.microsoft.com/office/drawing/2014/main" id="{BCDB9DF8-4203-17C1-1510-373D00075270}"/>
              </a:ext>
            </a:extLst>
          </p:cNvPr>
          <p:cNvSpPr txBox="1"/>
          <p:nvPr/>
        </p:nvSpPr>
        <p:spPr>
          <a:xfrm>
            <a:off x="3780273" y="1712019"/>
            <a:ext cx="13105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WiFi</a:t>
            </a:r>
          </a:p>
          <a:p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192.168.12.32 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391" name="テキスト ボックス 390">
            <a:extLst>
              <a:ext uri="{FF2B5EF4-FFF2-40B4-BE49-F238E27FC236}">
                <a16:creationId xmlns:a16="http://schemas.microsoft.com/office/drawing/2014/main" id="{82F6D5ED-8390-7B16-2F57-1E94EF2DD87E}"/>
              </a:ext>
            </a:extLst>
          </p:cNvPr>
          <p:cNvSpPr txBox="1"/>
          <p:nvPr/>
        </p:nvSpPr>
        <p:spPr>
          <a:xfrm>
            <a:off x="3688106" y="2934268"/>
            <a:ext cx="1364077" cy="459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Host Only </a:t>
            </a:r>
          </a:p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192.168.56.1 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423" name="テキスト ボックス 422">
            <a:extLst>
              <a:ext uri="{FF2B5EF4-FFF2-40B4-BE49-F238E27FC236}">
                <a16:creationId xmlns:a16="http://schemas.microsoft.com/office/drawing/2014/main" id="{BC3C4D23-1CAA-AAD4-C24C-C38A9FB77824}"/>
              </a:ext>
            </a:extLst>
          </p:cNvPr>
          <p:cNvSpPr txBox="1"/>
          <p:nvPr/>
        </p:nvSpPr>
        <p:spPr>
          <a:xfrm>
            <a:off x="1992459" y="2322068"/>
            <a:ext cx="15184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localhost</a:t>
            </a:r>
          </a:p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(OS</a:t>
            </a:r>
            <a:r>
              <a:rPr lang="ja-JP" altLang="en-US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内部</a:t>
            </a:r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5CC52823-2481-43F2-D73B-6D218C09B266}"/>
              </a:ext>
            </a:extLst>
          </p:cNvPr>
          <p:cNvCxnSpPr/>
          <p:nvPr/>
        </p:nvCxnSpPr>
        <p:spPr>
          <a:xfrm>
            <a:off x="0" y="6634480"/>
            <a:ext cx="12192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84DC0ED-9778-4041-37C3-EC6BE85BD2CA}"/>
              </a:ext>
            </a:extLst>
          </p:cNvPr>
          <p:cNvSpPr txBox="1"/>
          <p:nvPr/>
        </p:nvSpPr>
        <p:spPr>
          <a:xfrm>
            <a:off x="4297680" y="6604084"/>
            <a:ext cx="253306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Seched Insighs, All Rights Reserved</a:t>
            </a:r>
            <a:endParaRPr kumimoji="1" lang="ja-JP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245" name="グラフィックス 244" descr="雲 枠線">
            <a:extLst>
              <a:ext uri="{FF2B5EF4-FFF2-40B4-BE49-F238E27FC236}">
                <a16:creationId xmlns:a16="http://schemas.microsoft.com/office/drawing/2014/main" id="{EECDD822-8AAF-4765-4CBE-612CB407EF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004460" y="398926"/>
            <a:ext cx="1625120" cy="902482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6E92B36-2FFA-B2E5-837F-6F2ADA4C8B59}"/>
              </a:ext>
            </a:extLst>
          </p:cNvPr>
          <p:cNvSpPr txBox="1"/>
          <p:nvPr/>
        </p:nvSpPr>
        <p:spPr>
          <a:xfrm>
            <a:off x="1989574" y="170822"/>
            <a:ext cx="76017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AI</a:t>
            </a:r>
            <a:r>
              <a:rPr lang="ja-JP" altLang="en-US" dirty="0"/>
              <a:t>エージェント</a:t>
            </a:r>
            <a:r>
              <a:rPr lang="en-US" altLang="ja-JP" dirty="0"/>
              <a:t>(Google Antigravity)</a:t>
            </a:r>
            <a:r>
              <a:rPr lang="ja-JP" altLang="en-US" dirty="0"/>
              <a:t>を活用したセキュリティラボの構築</a:t>
            </a:r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B975D21-1369-89D5-9980-E95403D873BB}"/>
              </a:ext>
            </a:extLst>
          </p:cNvPr>
          <p:cNvSpPr txBox="1"/>
          <p:nvPr/>
        </p:nvSpPr>
        <p:spPr>
          <a:xfrm>
            <a:off x="6219930" y="773724"/>
            <a:ext cx="558556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内部ネットワークにセキュリティ検証対象を設置し、</a:t>
            </a:r>
            <a:endParaRPr kumimoji="1" lang="en-US" altLang="ja-JP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「</a:t>
            </a:r>
            <a:r>
              <a: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K</a:t>
            </a:r>
            <a:r>
              <a:rPr kumimoji="1"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ali </a:t>
            </a:r>
            <a:r>
              <a: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L</a:t>
            </a:r>
            <a:r>
              <a:rPr kumimoji="1"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inux</a:t>
            </a:r>
            <a:r>
              <a:rPr kumimoji="1"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のツールを使って脆弱性診断して」と</a:t>
            </a:r>
            <a:r>
              <a:rPr kumimoji="1"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AI</a:t>
            </a:r>
            <a:r>
              <a:rPr kumimoji="1"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エージェントに指示ができる。</a:t>
            </a:r>
            <a:endParaRPr kumimoji="1" lang="en-US" altLang="ja-JP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その際、</a:t>
            </a:r>
            <a:r>
              <a: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Kali Linux</a:t>
            </a:r>
            <a:r>
              <a: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の診断パケットが意図せずインターネットに発せられない構成を実現</a:t>
            </a:r>
            <a:endParaRPr lang="en-US" altLang="ja-JP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761118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59080CD4-2842-62D5-8E4A-073C49A11ACD}"/>
              </a:ext>
            </a:extLst>
          </p:cNvPr>
          <p:cNvCxnSpPr>
            <a:cxnSpLocks/>
          </p:cNvCxnSpPr>
          <p:nvPr/>
        </p:nvCxnSpPr>
        <p:spPr>
          <a:xfrm>
            <a:off x="4175760" y="4175760"/>
            <a:ext cx="549656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2" name="グラフィックス 71" descr="コンピューター 単色塗りつぶし">
            <a:extLst>
              <a:ext uri="{FF2B5EF4-FFF2-40B4-BE49-F238E27FC236}">
                <a16:creationId xmlns:a16="http://schemas.microsoft.com/office/drawing/2014/main" id="{FDC6874E-C2CB-FAD7-8DC9-F5D7F714EB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79291" y="4448494"/>
            <a:ext cx="690128" cy="690128"/>
          </a:xfrm>
          <a:prstGeom prst="rect">
            <a:avLst/>
          </a:prstGeom>
        </p:spPr>
      </p:pic>
      <p:sp>
        <p:nvSpPr>
          <p:cNvPr id="74" name="四角形: 角を丸くする 73">
            <a:extLst>
              <a:ext uri="{FF2B5EF4-FFF2-40B4-BE49-F238E27FC236}">
                <a16:creationId xmlns:a16="http://schemas.microsoft.com/office/drawing/2014/main" id="{18F440EB-B976-1659-5E2C-19D913F7EE33}"/>
              </a:ext>
            </a:extLst>
          </p:cNvPr>
          <p:cNvSpPr/>
          <p:nvPr/>
        </p:nvSpPr>
        <p:spPr>
          <a:xfrm>
            <a:off x="2296161" y="4417056"/>
            <a:ext cx="2580640" cy="1303023"/>
          </a:xfrm>
          <a:prstGeom prst="roundRect">
            <a:avLst>
              <a:gd name="adj" fmla="val 5380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5" name="テキスト ボックス 74">
            <a:extLst>
              <a:ext uri="{FF2B5EF4-FFF2-40B4-BE49-F238E27FC236}">
                <a16:creationId xmlns:a16="http://schemas.microsoft.com/office/drawing/2014/main" id="{B9DEED2E-7C24-443A-636D-2C85602189AA}"/>
              </a:ext>
            </a:extLst>
          </p:cNvPr>
          <p:cNvSpPr txBox="1"/>
          <p:nvPr/>
        </p:nvSpPr>
        <p:spPr>
          <a:xfrm>
            <a:off x="5885010" y="30823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6" name="四角形: 角を丸くする 75">
            <a:extLst>
              <a:ext uri="{FF2B5EF4-FFF2-40B4-BE49-F238E27FC236}">
                <a16:creationId xmlns:a16="http://schemas.microsoft.com/office/drawing/2014/main" id="{146CA2B3-AA52-01D4-1637-D8E484F6E19E}"/>
              </a:ext>
            </a:extLst>
          </p:cNvPr>
          <p:cNvSpPr/>
          <p:nvPr/>
        </p:nvSpPr>
        <p:spPr>
          <a:xfrm>
            <a:off x="2511484" y="4785360"/>
            <a:ext cx="1694756" cy="38608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VS Code Server</a:t>
            </a:r>
          </a:p>
          <a:p>
            <a:pPr algn="ctr"/>
            <a:r>
              <a:rPr kumimoji="1"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バックエンド</a:t>
            </a:r>
            <a:r>
              <a:rPr kumimoji="1"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7" name="四角形: 角を丸くする 76">
            <a:extLst>
              <a:ext uri="{FF2B5EF4-FFF2-40B4-BE49-F238E27FC236}">
                <a16:creationId xmlns:a16="http://schemas.microsoft.com/office/drawing/2014/main" id="{2C603C1A-63EC-2B39-40D7-D906190359C6}"/>
              </a:ext>
            </a:extLst>
          </p:cNvPr>
          <p:cNvSpPr/>
          <p:nvPr/>
        </p:nvSpPr>
        <p:spPr>
          <a:xfrm>
            <a:off x="2465186" y="5191011"/>
            <a:ext cx="1791854" cy="25474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セキュリティ診断ツール</a:t>
            </a:r>
          </a:p>
        </p:txBody>
      </p:sp>
      <p:sp>
        <p:nvSpPr>
          <p:cNvPr id="78" name="四角形: 角を丸くする 77">
            <a:extLst>
              <a:ext uri="{FF2B5EF4-FFF2-40B4-BE49-F238E27FC236}">
                <a16:creationId xmlns:a16="http://schemas.microsoft.com/office/drawing/2014/main" id="{DDE4F199-4E63-F880-7043-8E6D897A5F28}"/>
              </a:ext>
            </a:extLst>
          </p:cNvPr>
          <p:cNvSpPr/>
          <p:nvPr/>
        </p:nvSpPr>
        <p:spPr>
          <a:xfrm>
            <a:off x="2814729" y="4475595"/>
            <a:ext cx="1126090" cy="269046"/>
          </a:xfrm>
          <a:prstGeom prst="roundRect">
            <a:avLst>
              <a:gd name="adj" fmla="val 20385"/>
            </a:avLst>
          </a:prstGeom>
          <a:solidFill>
            <a:srgbClr val="DF29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ln/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kali Linux</a:t>
            </a:r>
            <a:endParaRPr lang="ja-JP" altLang="en-US" sz="1400" dirty="0">
              <a:ln/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cxnSp>
        <p:nvCxnSpPr>
          <p:cNvPr id="80" name="直線コネクタ 79">
            <a:extLst>
              <a:ext uri="{FF2B5EF4-FFF2-40B4-BE49-F238E27FC236}">
                <a16:creationId xmlns:a16="http://schemas.microsoft.com/office/drawing/2014/main" id="{C20B208E-9384-34B8-C996-2672817CE476}"/>
              </a:ext>
            </a:extLst>
          </p:cNvPr>
          <p:cNvCxnSpPr>
            <a:cxnSpLocks/>
          </p:cNvCxnSpPr>
          <p:nvPr/>
        </p:nvCxnSpPr>
        <p:spPr>
          <a:xfrm>
            <a:off x="4754880" y="4175760"/>
            <a:ext cx="0" cy="23368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直線コネクタ 81">
            <a:extLst>
              <a:ext uri="{FF2B5EF4-FFF2-40B4-BE49-F238E27FC236}">
                <a16:creationId xmlns:a16="http://schemas.microsoft.com/office/drawing/2014/main" id="{C160204F-F231-C048-E51D-8C053A422BBA}"/>
              </a:ext>
            </a:extLst>
          </p:cNvPr>
          <p:cNvCxnSpPr>
            <a:cxnSpLocks/>
          </p:cNvCxnSpPr>
          <p:nvPr/>
        </p:nvCxnSpPr>
        <p:spPr>
          <a:xfrm>
            <a:off x="5852160" y="4175760"/>
            <a:ext cx="0" cy="4572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直線コネクタ 83">
            <a:extLst>
              <a:ext uri="{FF2B5EF4-FFF2-40B4-BE49-F238E27FC236}">
                <a16:creationId xmlns:a16="http://schemas.microsoft.com/office/drawing/2014/main" id="{F7D87405-7C60-02E1-29EA-B7D2AF1A7BF2}"/>
              </a:ext>
            </a:extLst>
          </p:cNvPr>
          <p:cNvCxnSpPr>
            <a:cxnSpLocks/>
          </p:cNvCxnSpPr>
          <p:nvPr/>
        </p:nvCxnSpPr>
        <p:spPr>
          <a:xfrm>
            <a:off x="8239760" y="3728720"/>
            <a:ext cx="0" cy="4572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直線コネクタ 84">
            <a:extLst>
              <a:ext uri="{FF2B5EF4-FFF2-40B4-BE49-F238E27FC236}">
                <a16:creationId xmlns:a16="http://schemas.microsoft.com/office/drawing/2014/main" id="{492ED255-A402-A972-0948-EBF7291DF8B1}"/>
              </a:ext>
            </a:extLst>
          </p:cNvPr>
          <p:cNvCxnSpPr>
            <a:cxnSpLocks/>
          </p:cNvCxnSpPr>
          <p:nvPr/>
        </p:nvCxnSpPr>
        <p:spPr>
          <a:xfrm>
            <a:off x="4541520" y="3718560"/>
            <a:ext cx="0" cy="4267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7" name="グラフィックス 86" descr="コンピューター 単色塗りつぶし">
            <a:extLst>
              <a:ext uri="{FF2B5EF4-FFF2-40B4-BE49-F238E27FC236}">
                <a16:creationId xmlns:a16="http://schemas.microsoft.com/office/drawing/2014/main" id="{A6A440D6-02C5-C774-3AC9-A22D22C88B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72411" y="3168334"/>
            <a:ext cx="690128" cy="690128"/>
          </a:xfrm>
          <a:prstGeom prst="rect">
            <a:avLst/>
          </a:prstGeom>
        </p:spPr>
      </p:pic>
      <p:pic>
        <p:nvPicPr>
          <p:cNvPr id="89" name="グラフィックス 88" descr="雲 枠線">
            <a:extLst>
              <a:ext uri="{FF2B5EF4-FFF2-40B4-BE49-F238E27FC236}">
                <a16:creationId xmlns:a16="http://schemas.microsoft.com/office/drawing/2014/main" id="{8B37148A-8DD4-61EB-21A3-8BD6388135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74160" y="1945640"/>
            <a:ext cx="914400" cy="914400"/>
          </a:xfrm>
          <a:prstGeom prst="rect">
            <a:avLst/>
          </a:prstGeom>
        </p:spPr>
      </p:pic>
      <p:cxnSp>
        <p:nvCxnSpPr>
          <p:cNvPr id="91" name="直線コネクタ 90">
            <a:extLst>
              <a:ext uri="{FF2B5EF4-FFF2-40B4-BE49-F238E27FC236}">
                <a16:creationId xmlns:a16="http://schemas.microsoft.com/office/drawing/2014/main" id="{96E09578-36BB-0835-94E5-024AFAF5F1A8}"/>
              </a:ext>
            </a:extLst>
          </p:cNvPr>
          <p:cNvCxnSpPr>
            <a:cxnSpLocks/>
          </p:cNvCxnSpPr>
          <p:nvPr/>
        </p:nvCxnSpPr>
        <p:spPr>
          <a:xfrm flipV="1">
            <a:off x="4511040" y="2641600"/>
            <a:ext cx="0" cy="6299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テキスト ボックス 92">
            <a:extLst>
              <a:ext uri="{FF2B5EF4-FFF2-40B4-BE49-F238E27FC236}">
                <a16:creationId xmlns:a16="http://schemas.microsoft.com/office/drawing/2014/main" id="{ED10C649-ECF5-DDC0-E83E-30235E5D3815}"/>
              </a:ext>
            </a:extLst>
          </p:cNvPr>
          <p:cNvSpPr txBox="1"/>
          <p:nvPr/>
        </p:nvSpPr>
        <p:spPr>
          <a:xfrm>
            <a:off x="4744720" y="2722880"/>
            <a:ext cx="11063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無線</a:t>
            </a:r>
            <a:r>
              <a:rPr lang="en-US" altLang="ja-JP" dirty="0"/>
              <a:t>LAN</a:t>
            </a:r>
            <a:endParaRPr kumimoji="1" lang="ja-JP" altLang="en-US" dirty="0"/>
          </a:p>
        </p:txBody>
      </p:sp>
      <p:sp>
        <p:nvSpPr>
          <p:cNvPr id="94" name="四角形: 角を丸くする 93">
            <a:extLst>
              <a:ext uri="{FF2B5EF4-FFF2-40B4-BE49-F238E27FC236}">
                <a16:creationId xmlns:a16="http://schemas.microsoft.com/office/drawing/2014/main" id="{CBAF0530-BD40-EF15-7D30-A88D8F9969C7}"/>
              </a:ext>
            </a:extLst>
          </p:cNvPr>
          <p:cNvSpPr/>
          <p:nvPr/>
        </p:nvSpPr>
        <p:spPr>
          <a:xfrm>
            <a:off x="2657933" y="3200399"/>
            <a:ext cx="1224287" cy="553721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5" name="テキスト ボックス 94">
            <a:extLst>
              <a:ext uri="{FF2B5EF4-FFF2-40B4-BE49-F238E27FC236}">
                <a16:creationId xmlns:a16="http://schemas.microsoft.com/office/drawing/2014/main" id="{4F65FEBF-4A91-2885-1F28-A89D4F8CEC82}"/>
              </a:ext>
            </a:extLst>
          </p:cNvPr>
          <p:cNvSpPr txBox="1"/>
          <p:nvPr/>
        </p:nvSpPr>
        <p:spPr>
          <a:xfrm>
            <a:off x="2602196" y="3247426"/>
            <a:ext cx="13398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VSCode</a:t>
            </a:r>
          </a:p>
          <a:p>
            <a:pPr algn="ctr"/>
            <a:r>
              <a: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クライアント</a:t>
            </a:r>
            <a:r>
              <a: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lang="ja-JP" alt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6" name="四角形: 角を丸くする 95">
            <a:extLst>
              <a:ext uri="{FF2B5EF4-FFF2-40B4-BE49-F238E27FC236}">
                <a16:creationId xmlns:a16="http://schemas.microsoft.com/office/drawing/2014/main" id="{49EC00E3-AC43-B748-FBC5-D57B11B18453}"/>
              </a:ext>
            </a:extLst>
          </p:cNvPr>
          <p:cNvSpPr/>
          <p:nvPr/>
        </p:nvSpPr>
        <p:spPr>
          <a:xfrm>
            <a:off x="5356284" y="5073654"/>
            <a:ext cx="1349316" cy="331466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VS Code Server</a:t>
            </a:r>
          </a:p>
          <a:p>
            <a:pPr algn="ctr"/>
            <a:r>
              <a:rPr kumimoji="1"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バックエンド</a:t>
            </a:r>
            <a:r>
              <a:rPr kumimoji="1"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7" name="テキスト ボックス 96">
            <a:extLst>
              <a:ext uri="{FF2B5EF4-FFF2-40B4-BE49-F238E27FC236}">
                <a16:creationId xmlns:a16="http://schemas.microsoft.com/office/drawing/2014/main" id="{BB574B63-918B-C22C-08DD-5019476617BF}"/>
              </a:ext>
            </a:extLst>
          </p:cNvPr>
          <p:cNvSpPr txBox="1"/>
          <p:nvPr/>
        </p:nvSpPr>
        <p:spPr>
          <a:xfrm>
            <a:off x="5384800" y="543560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監視サーバ</a:t>
            </a:r>
          </a:p>
        </p:txBody>
      </p:sp>
      <p:pic>
        <p:nvPicPr>
          <p:cNvPr id="99" name="グラフィックス 98" descr="ロボット ハンド 単色塗りつぶし">
            <a:extLst>
              <a:ext uri="{FF2B5EF4-FFF2-40B4-BE49-F238E27FC236}">
                <a16:creationId xmlns:a16="http://schemas.microsoft.com/office/drawing/2014/main" id="{8E18D9C6-4485-E882-DBA9-CBBCCA514A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85760" y="2890520"/>
            <a:ext cx="914400" cy="914400"/>
          </a:xfrm>
          <a:prstGeom prst="rect">
            <a:avLst/>
          </a:prstGeom>
        </p:spPr>
      </p:pic>
      <p:sp>
        <p:nvSpPr>
          <p:cNvPr id="100" name="テキスト ボックス 99">
            <a:extLst>
              <a:ext uri="{FF2B5EF4-FFF2-40B4-BE49-F238E27FC236}">
                <a16:creationId xmlns:a16="http://schemas.microsoft.com/office/drawing/2014/main" id="{AAE5AC5D-1CA2-0B0E-6616-FAE355F0B12D}"/>
              </a:ext>
            </a:extLst>
          </p:cNvPr>
          <p:cNvSpPr txBox="1"/>
          <p:nvPr/>
        </p:nvSpPr>
        <p:spPr>
          <a:xfrm>
            <a:off x="7223760" y="5415280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模擬プラントシミュレータ</a:t>
            </a:r>
          </a:p>
        </p:txBody>
      </p:sp>
      <p:pic>
        <p:nvPicPr>
          <p:cNvPr id="103" name="グラフィックス 102" descr="コンピューター 単色塗りつぶし">
            <a:extLst>
              <a:ext uri="{FF2B5EF4-FFF2-40B4-BE49-F238E27FC236}">
                <a16:creationId xmlns:a16="http://schemas.microsoft.com/office/drawing/2014/main" id="{69A468CC-857E-941B-9F2E-649797A37E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206091" y="4338696"/>
            <a:ext cx="690128" cy="690128"/>
          </a:xfrm>
          <a:prstGeom prst="rect">
            <a:avLst/>
          </a:prstGeom>
        </p:spPr>
      </p:pic>
      <p:sp>
        <p:nvSpPr>
          <p:cNvPr id="104" name="四角形: 角を丸くする 103">
            <a:extLst>
              <a:ext uri="{FF2B5EF4-FFF2-40B4-BE49-F238E27FC236}">
                <a16:creationId xmlns:a16="http://schemas.microsoft.com/office/drawing/2014/main" id="{2E19A011-C891-1FC6-7943-CEE6BFE95BD0}"/>
              </a:ext>
            </a:extLst>
          </p:cNvPr>
          <p:cNvSpPr/>
          <p:nvPr/>
        </p:nvSpPr>
        <p:spPr>
          <a:xfrm>
            <a:off x="2465186" y="5445011"/>
            <a:ext cx="1791854" cy="25474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模擬攻撃プログラム</a:t>
            </a:r>
          </a:p>
        </p:txBody>
      </p:sp>
      <p:sp>
        <p:nvSpPr>
          <p:cNvPr id="105" name="テキスト ボックス 104">
            <a:extLst>
              <a:ext uri="{FF2B5EF4-FFF2-40B4-BE49-F238E27FC236}">
                <a16:creationId xmlns:a16="http://schemas.microsoft.com/office/drawing/2014/main" id="{951F8331-869F-B00F-F1FB-5DE8E3E4EC67}"/>
              </a:ext>
            </a:extLst>
          </p:cNvPr>
          <p:cNvSpPr txBox="1"/>
          <p:nvPr/>
        </p:nvSpPr>
        <p:spPr>
          <a:xfrm>
            <a:off x="2661920" y="3850640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900" dirty="0"/>
              <a:t>AI</a:t>
            </a:r>
            <a:r>
              <a:rPr kumimoji="1" lang="ja-JP" altLang="en-US" sz="900" dirty="0"/>
              <a:t>エージェント</a:t>
            </a:r>
            <a:endParaRPr kumimoji="1" lang="en-US" altLang="ja-JP" sz="900" dirty="0"/>
          </a:p>
          <a:p>
            <a:r>
              <a:rPr lang="ja-JP" altLang="en-US" sz="900" dirty="0"/>
              <a:t>フロントエンド</a:t>
            </a:r>
            <a:endParaRPr kumimoji="1" lang="ja-JP" altLang="en-US" sz="900" dirty="0"/>
          </a:p>
        </p:txBody>
      </p:sp>
      <p:cxnSp>
        <p:nvCxnSpPr>
          <p:cNvPr id="107" name="直線コネクタ 106">
            <a:extLst>
              <a:ext uri="{FF2B5EF4-FFF2-40B4-BE49-F238E27FC236}">
                <a16:creationId xmlns:a16="http://schemas.microsoft.com/office/drawing/2014/main" id="{8B9DF719-4579-505B-2930-60A2E5654BEE}"/>
              </a:ext>
            </a:extLst>
          </p:cNvPr>
          <p:cNvCxnSpPr>
            <a:cxnSpLocks/>
          </p:cNvCxnSpPr>
          <p:nvPr/>
        </p:nvCxnSpPr>
        <p:spPr>
          <a:xfrm flipH="1">
            <a:off x="8026400" y="3921760"/>
            <a:ext cx="46736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テキスト ボックス 109">
            <a:extLst>
              <a:ext uri="{FF2B5EF4-FFF2-40B4-BE49-F238E27FC236}">
                <a16:creationId xmlns:a16="http://schemas.microsoft.com/office/drawing/2014/main" id="{490C47DC-8F2F-A527-F2DA-1E6E1D99D735}"/>
              </a:ext>
            </a:extLst>
          </p:cNvPr>
          <p:cNvSpPr txBox="1"/>
          <p:nvPr/>
        </p:nvSpPr>
        <p:spPr>
          <a:xfrm>
            <a:off x="8748793" y="3616960"/>
            <a:ext cx="17235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000" dirty="0"/>
              <a:t>開発環境が</a:t>
            </a:r>
            <a:endParaRPr lang="en-US" altLang="ja-JP" sz="1000" dirty="0"/>
          </a:p>
          <a:p>
            <a:r>
              <a:rPr lang="ja-JP" altLang="en-US" sz="1000" dirty="0"/>
              <a:t>インターネット接続中は、</a:t>
            </a:r>
            <a:endParaRPr lang="en-US" altLang="ja-JP" sz="1000" dirty="0"/>
          </a:p>
          <a:p>
            <a:r>
              <a:rPr kumimoji="1" lang="ja-JP" altLang="en-US" sz="1000" dirty="0"/>
              <a:t>ネットワークから切断</a:t>
            </a:r>
          </a:p>
        </p:txBody>
      </p:sp>
      <p:sp>
        <p:nvSpPr>
          <p:cNvPr id="115" name="テキスト ボックス 114">
            <a:extLst>
              <a:ext uri="{FF2B5EF4-FFF2-40B4-BE49-F238E27FC236}">
                <a16:creationId xmlns:a16="http://schemas.microsoft.com/office/drawing/2014/main" id="{C2AC2B18-04F0-CD67-1FF0-F5C27E4586D2}"/>
              </a:ext>
            </a:extLst>
          </p:cNvPr>
          <p:cNvSpPr txBox="1"/>
          <p:nvPr/>
        </p:nvSpPr>
        <p:spPr>
          <a:xfrm>
            <a:off x="254000" y="91440"/>
            <a:ext cx="7802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サイバーサイエンスセンタでの</a:t>
            </a:r>
            <a:r>
              <a:rPr lang="ja-JP" altLang="en-US" dirty="0"/>
              <a:t>模擬攻撃・攻撃検知プログラムの開発手順</a:t>
            </a:r>
            <a:endParaRPr kumimoji="1" lang="ja-JP" altLang="en-US" dirty="0"/>
          </a:p>
        </p:txBody>
      </p:sp>
      <p:cxnSp>
        <p:nvCxnSpPr>
          <p:cNvPr id="119" name="直線コネクタ 118">
            <a:extLst>
              <a:ext uri="{FF2B5EF4-FFF2-40B4-BE49-F238E27FC236}">
                <a16:creationId xmlns:a16="http://schemas.microsoft.com/office/drawing/2014/main" id="{736CA4FE-ADE4-5555-3CA7-CDE699E23E1C}"/>
              </a:ext>
            </a:extLst>
          </p:cNvPr>
          <p:cNvCxnSpPr>
            <a:cxnSpLocks/>
          </p:cNvCxnSpPr>
          <p:nvPr/>
        </p:nvCxnSpPr>
        <p:spPr>
          <a:xfrm>
            <a:off x="7914640" y="4206240"/>
            <a:ext cx="0" cy="4572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四角形: 角を丸くする 120">
            <a:extLst>
              <a:ext uri="{FF2B5EF4-FFF2-40B4-BE49-F238E27FC236}">
                <a16:creationId xmlns:a16="http://schemas.microsoft.com/office/drawing/2014/main" id="{078C551C-6B29-7544-19E1-26FFDBFFDC19}"/>
              </a:ext>
            </a:extLst>
          </p:cNvPr>
          <p:cNvSpPr/>
          <p:nvPr/>
        </p:nvSpPr>
        <p:spPr>
          <a:xfrm>
            <a:off x="7357804" y="5073654"/>
            <a:ext cx="1349316" cy="331466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VS Code Server</a:t>
            </a:r>
          </a:p>
          <a:p>
            <a:pPr algn="ctr"/>
            <a:r>
              <a:rPr kumimoji="1"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バックエンド</a:t>
            </a:r>
            <a:r>
              <a:rPr kumimoji="1"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122" name="グラフィックス 121" descr="コンピューター 単色塗りつぶし">
            <a:extLst>
              <a:ext uri="{FF2B5EF4-FFF2-40B4-BE49-F238E27FC236}">
                <a16:creationId xmlns:a16="http://schemas.microsoft.com/office/drawing/2014/main" id="{BCB38617-43DC-8E79-0642-2D31F8619E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11291" y="4509454"/>
            <a:ext cx="690128" cy="690128"/>
          </a:xfrm>
          <a:prstGeom prst="rect">
            <a:avLst/>
          </a:prstGeom>
        </p:spPr>
      </p:pic>
      <p:sp>
        <p:nvSpPr>
          <p:cNvPr id="123" name="テキスト ボックス 122">
            <a:extLst>
              <a:ext uri="{FF2B5EF4-FFF2-40B4-BE49-F238E27FC236}">
                <a16:creationId xmlns:a16="http://schemas.microsoft.com/office/drawing/2014/main" id="{AD1692BD-7466-73A6-89DA-8D5554EB475D}"/>
              </a:ext>
            </a:extLst>
          </p:cNvPr>
          <p:cNvSpPr txBox="1"/>
          <p:nvPr/>
        </p:nvSpPr>
        <p:spPr>
          <a:xfrm>
            <a:off x="7518400" y="2672080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模擬プラント</a:t>
            </a:r>
          </a:p>
        </p:txBody>
      </p:sp>
      <p:cxnSp>
        <p:nvCxnSpPr>
          <p:cNvPr id="125" name="直線コネクタ 124">
            <a:extLst>
              <a:ext uri="{FF2B5EF4-FFF2-40B4-BE49-F238E27FC236}">
                <a16:creationId xmlns:a16="http://schemas.microsoft.com/office/drawing/2014/main" id="{854C6A9E-E82F-E569-88EF-E75048CE4010}"/>
              </a:ext>
            </a:extLst>
          </p:cNvPr>
          <p:cNvCxnSpPr>
            <a:cxnSpLocks/>
          </p:cNvCxnSpPr>
          <p:nvPr/>
        </p:nvCxnSpPr>
        <p:spPr>
          <a:xfrm flipH="1">
            <a:off x="4216400" y="2976880"/>
            <a:ext cx="46736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テキスト ボックス 125">
            <a:extLst>
              <a:ext uri="{FF2B5EF4-FFF2-40B4-BE49-F238E27FC236}">
                <a16:creationId xmlns:a16="http://schemas.microsoft.com/office/drawing/2014/main" id="{650416EC-C037-DA14-2129-67B30869A5F0}"/>
              </a:ext>
            </a:extLst>
          </p:cNvPr>
          <p:cNvSpPr txBox="1"/>
          <p:nvPr/>
        </p:nvSpPr>
        <p:spPr>
          <a:xfrm>
            <a:off x="2632473" y="2844800"/>
            <a:ext cx="172354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000" dirty="0"/>
              <a:t>模擬プラント接続時は切断</a:t>
            </a:r>
          </a:p>
        </p:txBody>
      </p:sp>
      <p:sp>
        <p:nvSpPr>
          <p:cNvPr id="130" name="テキスト ボックス 129">
            <a:extLst>
              <a:ext uri="{FF2B5EF4-FFF2-40B4-BE49-F238E27FC236}">
                <a16:creationId xmlns:a16="http://schemas.microsoft.com/office/drawing/2014/main" id="{246C78CD-C38A-70D0-4B8B-6CA36076A1FC}"/>
              </a:ext>
            </a:extLst>
          </p:cNvPr>
          <p:cNvSpPr txBox="1"/>
          <p:nvPr/>
        </p:nvSpPr>
        <p:spPr>
          <a:xfrm>
            <a:off x="4917440" y="6410960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初版環境は米田から提供</a:t>
            </a:r>
          </a:p>
        </p:txBody>
      </p:sp>
      <p:sp>
        <p:nvSpPr>
          <p:cNvPr id="132" name="テキスト ボックス 131">
            <a:extLst>
              <a:ext uri="{FF2B5EF4-FFF2-40B4-BE49-F238E27FC236}">
                <a16:creationId xmlns:a16="http://schemas.microsoft.com/office/drawing/2014/main" id="{A40EA7C7-7381-5E69-A3DC-126F7B34AFE7}"/>
              </a:ext>
            </a:extLst>
          </p:cNvPr>
          <p:cNvSpPr txBox="1"/>
          <p:nvPr/>
        </p:nvSpPr>
        <p:spPr>
          <a:xfrm>
            <a:off x="701040" y="447040"/>
            <a:ext cx="11423320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dirty="0"/>
              <a:t>・</a:t>
            </a:r>
            <a:r>
              <a:rPr kumimoji="1" lang="en-US" altLang="ja-JP" sz="1400" dirty="0"/>
              <a:t>Modbus/</a:t>
            </a:r>
            <a:r>
              <a:rPr kumimoji="1" lang="en-US" altLang="ja-JP" sz="1400" dirty="0" err="1"/>
              <a:t>EthernetIP</a:t>
            </a:r>
            <a:r>
              <a:rPr kumimoji="1" lang="ja-JP" altLang="en-US" sz="1400" dirty="0"/>
              <a:t>に関し以下の初版環境を米田から提供（著作件上の制約なし）</a:t>
            </a:r>
            <a:endParaRPr kumimoji="1" lang="en-US" altLang="ja-JP" sz="1400" dirty="0"/>
          </a:p>
          <a:p>
            <a:r>
              <a:rPr lang="ja-JP" altLang="en-US" sz="1400" dirty="0"/>
              <a:t>・</a:t>
            </a:r>
            <a:r>
              <a:rPr lang="en-US" altLang="ja-JP" sz="1400" dirty="0"/>
              <a:t>CSSC</a:t>
            </a:r>
            <a:r>
              <a:rPr lang="ja-JP" altLang="en-US" sz="1400" dirty="0"/>
              <a:t>でも</a:t>
            </a:r>
            <a:r>
              <a:rPr lang="en-US" altLang="ja-JP" sz="1400" dirty="0"/>
              <a:t>Google Antigravity</a:t>
            </a:r>
            <a:r>
              <a:rPr lang="ja-JP" altLang="en-US" sz="1400" dirty="0"/>
              <a:t>か</a:t>
            </a:r>
            <a:r>
              <a:rPr lang="en-US" altLang="ja-JP" sz="1400" dirty="0" err="1"/>
              <a:t>ClaudeCode</a:t>
            </a:r>
            <a:r>
              <a:rPr lang="ja-JP" altLang="en-US" sz="1400" dirty="0"/>
              <a:t>の有料ライセンスを購入</a:t>
            </a:r>
            <a:endParaRPr lang="en-US" altLang="ja-JP" sz="1400" dirty="0"/>
          </a:p>
          <a:p>
            <a:r>
              <a:rPr lang="ja-JP" altLang="en-US" sz="1400" dirty="0"/>
              <a:t>・模擬プラントシミュレータを現地に設置してカスタイマイズ（</a:t>
            </a:r>
            <a:r>
              <a:rPr lang="en-US" altLang="ja-JP" sz="1400" dirty="0"/>
              <a:t>CSSC</a:t>
            </a:r>
            <a:r>
              <a:rPr lang="ja-JP" altLang="en-US" sz="1400" dirty="0"/>
              <a:t>の皆さんに対応いただく。もちろん支援はします））</a:t>
            </a:r>
            <a:r>
              <a:rPr lang="en-US" altLang="ja-JP" sz="1400" dirty="0"/>
              <a:t>CSSC</a:t>
            </a:r>
            <a:r>
              <a:rPr lang="ja-JP" altLang="en-US" sz="1400" dirty="0"/>
              <a:t>の著作物</a:t>
            </a:r>
            <a:r>
              <a:rPr lang="en-US" altLang="ja-JP" sz="1400" dirty="0"/>
              <a:t>)</a:t>
            </a:r>
          </a:p>
          <a:p>
            <a:r>
              <a:rPr lang="ja-JP" altLang="en-US" sz="1400" dirty="0"/>
              <a:t>　　⇒効率的に模擬攻撃・攻撃検知プログラムを再現（</a:t>
            </a:r>
            <a:r>
              <a:rPr lang="en-US" altLang="ja-JP" sz="1400" dirty="0"/>
              <a:t>CSSC</a:t>
            </a:r>
            <a:r>
              <a:rPr lang="ja-JP" altLang="en-US" sz="1400" dirty="0"/>
              <a:t>の皆さんも</a:t>
            </a:r>
            <a:r>
              <a:rPr lang="en-US" altLang="ja-JP" sz="1400" dirty="0"/>
              <a:t>AI</a:t>
            </a:r>
            <a:r>
              <a:rPr lang="ja-JP" altLang="en-US" sz="1400" dirty="0"/>
              <a:t>エージェントの活用ノウハウがたまる）</a:t>
            </a:r>
            <a:endParaRPr lang="en-US" altLang="ja-JP" sz="1400" dirty="0"/>
          </a:p>
          <a:p>
            <a:r>
              <a:rPr lang="ja-JP" altLang="en-US" sz="1400" dirty="0"/>
              <a:t>・インターネットと切り離して、模擬プラントを接続（おそらく、以降インターネットには接続できない（運用検討要）</a:t>
            </a:r>
            <a:endParaRPr lang="en-US" altLang="ja-JP" sz="1400" dirty="0"/>
          </a:p>
          <a:p>
            <a:r>
              <a:rPr lang="ja-JP" altLang="en-US" sz="1400" dirty="0"/>
              <a:t>・従来通り手作業で模擬攻撃・攻撃検知プログラムを調整</a:t>
            </a:r>
            <a:endParaRPr lang="en-US" altLang="ja-JP" sz="1400" dirty="0"/>
          </a:p>
          <a:p>
            <a:r>
              <a:rPr lang="ja-JP" altLang="en-US" sz="1400" dirty="0"/>
              <a:t>　⇒この時点で米田もサイバーサイエンスセンタに行って作業支援をする（</a:t>
            </a:r>
            <a:r>
              <a:rPr lang="en-US" altLang="ja-JP" sz="1400" dirty="0"/>
              <a:t>CSSC</a:t>
            </a:r>
            <a:r>
              <a:rPr lang="ja-JP" altLang="en-US" sz="1400" dirty="0"/>
              <a:t>研究員として）。</a:t>
            </a:r>
            <a:endParaRPr lang="en-US" altLang="ja-JP" sz="1400" dirty="0"/>
          </a:p>
        </p:txBody>
      </p:sp>
      <p:cxnSp>
        <p:nvCxnSpPr>
          <p:cNvPr id="134" name="直線矢印コネクタ 133">
            <a:extLst>
              <a:ext uri="{FF2B5EF4-FFF2-40B4-BE49-F238E27FC236}">
                <a16:creationId xmlns:a16="http://schemas.microsoft.com/office/drawing/2014/main" id="{7A4A997B-CC4E-3AFE-0A80-03242033B79A}"/>
              </a:ext>
            </a:extLst>
          </p:cNvPr>
          <p:cNvCxnSpPr>
            <a:cxnSpLocks/>
          </p:cNvCxnSpPr>
          <p:nvPr/>
        </p:nvCxnSpPr>
        <p:spPr>
          <a:xfrm flipV="1">
            <a:off x="5911974" y="5794772"/>
            <a:ext cx="0" cy="5450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直線矢印コネクタ 134">
            <a:extLst>
              <a:ext uri="{FF2B5EF4-FFF2-40B4-BE49-F238E27FC236}">
                <a16:creationId xmlns:a16="http://schemas.microsoft.com/office/drawing/2014/main" id="{45CC6611-A3E2-DDEE-B23D-0B0F3DF9FDAD}"/>
              </a:ext>
            </a:extLst>
          </p:cNvPr>
          <p:cNvCxnSpPr>
            <a:cxnSpLocks/>
          </p:cNvCxnSpPr>
          <p:nvPr/>
        </p:nvCxnSpPr>
        <p:spPr>
          <a:xfrm flipV="1">
            <a:off x="6322839" y="5842000"/>
            <a:ext cx="1429241" cy="5486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矢印コネクタ 136">
            <a:extLst>
              <a:ext uri="{FF2B5EF4-FFF2-40B4-BE49-F238E27FC236}">
                <a16:creationId xmlns:a16="http://schemas.microsoft.com/office/drawing/2014/main" id="{595466F7-CE1A-FCF0-62F2-BCA3DFD6E4B7}"/>
              </a:ext>
            </a:extLst>
          </p:cNvPr>
          <p:cNvCxnSpPr>
            <a:cxnSpLocks/>
          </p:cNvCxnSpPr>
          <p:nvPr/>
        </p:nvCxnSpPr>
        <p:spPr>
          <a:xfrm flipH="1" flipV="1">
            <a:off x="4378960" y="5892800"/>
            <a:ext cx="1252999" cy="4978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84700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A31BB-B52C-C798-CF1A-BCCC07544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E667E9C6-6D89-8355-714D-3A0B97131A67}"/>
              </a:ext>
            </a:extLst>
          </p:cNvPr>
          <p:cNvSpPr/>
          <p:nvPr/>
        </p:nvSpPr>
        <p:spPr>
          <a:xfrm>
            <a:off x="241300" y="1532455"/>
            <a:ext cx="11249660" cy="3960941"/>
          </a:xfrm>
          <a:prstGeom prst="roundRect">
            <a:avLst>
              <a:gd name="adj" fmla="val 5380"/>
            </a:avLst>
          </a:prstGeom>
          <a:solidFill>
            <a:schemeClr val="bg2"/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3" name="テキスト ボックス 162">
            <a:extLst>
              <a:ext uri="{FF2B5EF4-FFF2-40B4-BE49-F238E27FC236}">
                <a16:creationId xmlns:a16="http://schemas.microsoft.com/office/drawing/2014/main" id="{9AFE77E5-2B50-56F7-E4BE-FD9D79424894}"/>
              </a:ext>
            </a:extLst>
          </p:cNvPr>
          <p:cNvSpPr txBox="1"/>
          <p:nvPr/>
        </p:nvSpPr>
        <p:spPr>
          <a:xfrm>
            <a:off x="1042670" y="454285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0" name="フリーフォーム: 図形 59">
            <a:extLst>
              <a:ext uri="{FF2B5EF4-FFF2-40B4-BE49-F238E27FC236}">
                <a16:creationId xmlns:a16="http://schemas.microsoft.com/office/drawing/2014/main" id="{EA1D0A7C-DB27-84B9-E1BF-46B206C4DDD2}"/>
              </a:ext>
            </a:extLst>
          </p:cNvPr>
          <p:cNvSpPr/>
          <p:nvPr/>
        </p:nvSpPr>
        <p:spPr>
          <a:xfrm>
            <a:off x="2800868" y="4012224"/>
            <a:ext cx="2822236" cy="1192536"/>
          </a:xfrm>
          <a:custGeom>
            <a:avLst/>
            <a:gdLst>
              <a:gd name="csX0" fmla="*/ 1 w 3441780"/>
              <a:gd name="csY0" fmla="*/ 1 h 421111"/>
              <a:gd name="csX1" fmla="*/ 3441781 w 3441780"/>
              <a:gd name="csY1" fmla="*/ 1 h 421111"/>
              <a:gd name="csX2" fmla="*/ 3441781 w 3441780"/>
              <a:gd name="csY2" fmla="*/ 421112 h 421111"/>
              <a:gd name="csX3" fmla="*/ 1 w 3441780"/>
              <a:gd name="csY3" fmla="*/ 421112 h 4211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441780" h="421111">
                <a:moveTo>
                  <a:pt x="1" y="1"/>
                </a:moveTo>
                <a:lnTo>
                  <a:pt x="3441781" y="1"/>
                </a:lnTo>
                <a:lnTo>
                  <a:pt x="3441781" y="421112"/>
                </a:lnTo>
                <a:lnTo>
                  <a:pt x="1" y="421112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8098" cap="flat">
            <a:solidFill>
              <a:srgbClr val="999999"/>
            </a:solidFill>
            <a:prstDash val="solid"/>
            <a:miter/>
          </a:ln>
        </p:spPr>
        <p:txBody>
          <a:bodyPr/>
          <a:lstStyle/>
          <a:p>
            <a:endParaRPr lang="ja-JP" altLang="en-US" sz="1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0" name="テキスト ボックス 119">
            <a:extLst>
              <a:ext uri="{FF2B5EF4-FFF2-40B4-BE49-F238E27FC236}">
                <a16:creationId xmlns:a16="http://schemas.microsoft.com/office/drawing/2014/main" id="{214C2330-E874-3A49-C12F-D2FAE5BE550D}"/>
              </a:ext>
            </a:extLst>
          </p:cNvPr>
          <p:cNvSpPr txBox="1"/>
          <p:nvPr/>
        </p:nvSpPr>
        <p:spPr>
          <a:xfrm>
            <a:off x="5442088" y="3190324"/>
            <a:ext cx="19794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sym typeface="ＭＳ ゴシック"/>
                <a:rtl val="0"/>
              </a:rPr>
              <a:t>経路追加　</a:t>
            </a:r>
            <a:r>
              <a:rPr lang="en-US" altLang="ja-JP" sz="1200" dirty="0" err="1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sym typeface="ＭＳ ゴシック"/>
                <a:rtl val="0"/>
              </a:rPr>
              <a:t>Angigravity</a:t>
            </a:r>
            <a:r>
              <a:rPr lang="ja-JP" altLang="en-US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sym typeface="ＭＳ ゴシック"/>
                <a:rtl val="0"/>
              </a:rPr>
              <a:t>は、</a:t>
            </a:r>
            <a:endParaRPr lang="en-US" altLang="ja-JP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sym typeface="ＭＳ ゴシック"/>
              <a:rtl val="0"/>
            </a:endParaRPr>
          </a:p>
          <a:p>
            <a:pPr algn="l"/>
            <a:r>
              <a:rPr lang="en-US" altLang="ja-JP" sz="1200" spc="0" baseline="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sym typeface="ＭＳ ゴシック"/>
                <a:rtl val="0"/>
              </a:rPr>
              <a:t>172.30.201.1:8888</a:t>
            </a:r>
            <a:r>
              <a:rPr lang="ja-JP" altLang="en-US" sz="1200" spc="0" baseline="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sym typeface="ＭＳ ゴシック"/>
                <a:rtl val="0"/>
              </a:rPr>
              <a:t>へ</a:t>
            </a:r>
          </a:p>
        </p:txBody>
      </p:sp>
      <p:sp>
        <p:nvSpPr>
          <p:cNvPr id="162" name="楕円 161">
            <a:extLst>
              <a:ext uri="{FF2B5EF4-FFF2-40B4-BE49-F238E27FC236}">
                <a16:creationId xmlns:a16="http://schemas.microsoft.com/office/drawing/2014/main" id="{697595A6-4573-75AA-A2C4-622B6A6CFD1E}"/>
              </a:ext>
            </a:extLst>
          </p:cNvPr>
          <p:cNvSpPr/>
          <p:nvPr/>
        </p:nvSpPr>
        <p:spPr>
          <a:xfrm>
            <a:off x="2637484" y="5614166"/>
            <a:ext cx="2407555" cy="542254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78A3843A-56EE-F75A-E651-999A1637CDCE}"/>
              </a:ext>
            </a:extLst>
          </p:cNvPr>
          <p:cNvCxnSpPr>
            <a:cxnSpLocks/>
            <a:stCxn id="186" idx="3"/>
            <a:endCxn id="13" idx="2"/>
          </p:cNvCxnSpPr>
          <p:nvPr/>
        </p:nvCxnSpPr>
        <p:spPr>
          <a:xfrm flipV="1">
            <a:off x="7101016" y="4679878"/>
            <a:ext cx="177530" cy="464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29649902-A350-4255-0A39-08D2364BA59A}"/>
              </a:ext>
            </a:extLst>
          </p:cNvPr>
          <p:cNvSpPr txBox="1"/>
          <p:nvPr/>
        </p:nvSpPr>
        <p:spPr>
          <a:xfrm>
            <a:off x="3200073" y="5620218"/>
            <a:ext cx="1348446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050" dirty="0">
                <a:latin typeface="Meiryo UI" panose="020B0604030504040204" pitchFamily="50" charset="-128"/>
                <a:ea typeface="Meiryo UI" panose="020B0604030504040204" pitchFamily="50" charset="-128"/>
              </a:rPr>
              <a:t>物理</a:t>
            </a:r>
            <a:r>
              <a:rPr lang="en-US" altLang="ja-JP" sz="1050" dirty="0">
                <a:latin typeface="Meiryo UI" panose="020B0604030504040204" pitchFamily="50" charset="-128"/>
                <a:ea typeface="Meiryo UI" panose="020B0604030504040204" pitchFamily="50" charset="-128"/>
              </a:rPr>
              <a:t>PC</a:t>
            </a:r>
            <a:r>
              <a:rPr lang="ja-JP" altLang="en-US" sz="1050" dirty="0">
                <a:latin typeface="Meiryo UI" panose="020B0604030504040204" pitchFamily="50" charset="-128"/>
                <a:ea typeface="Meiryo UI" panose="020B0604030504040204" pitchFamily="50" charset="-128"/>
              </a:rPr>
              <a:t>接続用</a:t>
            </a:r>
            <a:endParaRPr lang="en-US" altLang="ja-JP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050" dirty="0">
                <a:latin typeface="Meiryo UI" panose="020B0604030504040204" pitchFamily="50" charset="-128"/>
                <a:ea typeface="Meiryo UI" panose="020B0604030504040204" pitchFamily="50" charset="-128"/>
              </a:rPr>
              <a:t>内部ネットワーク</a:t>
            </a:r>
            <a:endParaRPr lang="en-US" altLang="ja-JP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en-US" altLang="ja-JP" sz="1050" dirty="0">
                <a:latin typeface="Meiryo UI" panose="020B0604030504040204" pitchFamily="50" charset="-128"/>
                <a:ea typeface="Meiryo UI" panose="020B0604030504040204" pitchFamily="50" charset="-128"/>
              </a:rPr>
              <a:t>192.168.64.0/24 </a:t>
            </a:r>
            <a:endParaRPr kumimoji="1" lang="ja-JP" altLang="en-US" sz="10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1AD0EF6-1446-1793-2019-B4904A8C5399}"/>
              </a:ext>
            </a:extLst>
          </p:cNvPr>
          <p:cNvSpPr txBox="1"/>
          <p:nvPr/>
        </p:nvSpPr>
        <p:spPr>
          <a:xfrm>
            <a:off x="7619407" y="4347862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ゲスト</a:t>
            </a:r>
            <a:r>
              <a: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OS</a:t>
            </a:r>
            <a:r>
              <a: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接続用</a:t>
            </a:r>
            <a:endParaRPr lang="en-US" altLang="ja-JP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内部ネットワーク</a:t>
            </a:r>
            <a:endParaRPr lang="en-US" altLang="ja-JP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192.168.13.0/24 </a:t>
            </a:r>
            <a:endParaRPr kumimoji="1" lang="ja-JP" alt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CD0FCFA6-2E74-2EEB-2255-0B089E75AEC2}"/>
              </a:ext>
            </a:extLst>
          </p:cNvPr>
          <p:cNvSpPr/>
          <p:nvPr/>
        </p:nvSpPr>
        <p:spPr>
          <a:xfrm>
            <a:off x="7278546" y="4317421"/>
            <a:ext cx="2023469" cy="724914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808F1D51-4CC1-B5C9-70FF-BBA3E3C6316A}"/>
              </a:ext>
            </a:extLst>
          </p:cNvPr>
          <p:cNvCxnSpPr>
            <a:cxnSpLocks/>
            <a:stCxn id="13" idx="6"/>
          </p:cNvCxnSpPr>
          <p:nvPr/>
        </p:nvCxnSpPr>
        <p:spPr>
          <a:xfrm flipV="1">
            <a:off x="9302015" y="4520309"/>
            <a:ext cx="324819" cy="1595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DA10A56B-DE10-7007-0582-269B6E023B41}"/>
              </a:ext>
            </a:extLst>
          </p:cNvPr>
          <p:cNvSpPr txBox="1"/>
          <p:nvPr/>
        </p:nvSpPr>
        <p:spPr>
          <a:xfrm>
            <a:off x="4694191" y="4043952"/>
            <a:ext cx="8867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 spc="0" baseline="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kali Linux</a:t>
            </a:r>
            <a:endParaRPr lang="ja-JP" altLang="en-US" sz="1200" spc="0" baseline="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39B7FCB1-6143-FECB-4298-4291994FE39F}"/>
              </a:ext>
            </a:extLst>
          </p:cNvPr>
          <p:cNvCxnSpPr>
            <a:cxnSpLocks/>
          </p:cNvCxnSpPr>
          <p:nvPr/>
        </p:nvCxnSpPr>
        <p:spPr>
          <a:xfrm>
            <a:off x="9268237" y="4848477"/>
            <a:ext cx="324819" cy="32329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フリーフォーム: 図形 36">
            <a:extLst>
              <a:ext uri="{FF2B5EF4-FFF2-40B4-BE49-F238E27FC236}">
                <a16:creationId xmlns:a16="http://schemas.microsoft.com/office/drawing/2014/main" id="{C5E568FC-2D54-DE8A-11D2-FCD68376FFED}"/>
              </a:ext>
            </a:extLst>
          </p:cNvPr>
          <p:cNvSpPr/>
          <p:nvPr/>
        </p:nvSpPr>
        <p:spPr>
          <a:xfrm>
            <a:off x="9626833" y="4361408"/>
            <a:ext cx="1538859" cy="382956"/>
          </a:xfrm>
          <a:custGeom>
            <a:avLst/>
            <a:gdLst>
              <a:gd name="csX0" fmla="*/ 1 w 947501"/>
              <a:gd name="csY0" fmla="*/ 1 h 218654"/>
              <a:gd name="csX1" fmla="*/ 947502 w 947501"/>
              <a:gd name="csY1" fmla="*/ 1 h 218654"/>
              <a:gd name="csX2" fmla="*/ 947502 w 947501"/>
              <a:gd name="csY2" fmla="*/ 218655 h 218654"/>
              <a:gd name="csX3" fmla="*/ 1 w 947501"/>
              <a:gd name="csY3" fmla="*/ 218655 h 2186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47501" h="218654">
                <a:moveTo>
                  <a:pt x="1" y="1"/>
                </a:moveTo>
                <a:lnTo>
                  <a:pt x="947502" y="1"/>
                </a:lnTo>
                <a:lnTo>
                  <a:pt x="947502" y="218655"/>
                </a:lnTo>
                <a:lnTo>
                  <a:pt x="1" y="218655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8098" cap="flat">
            <a:solidFill>
              <a:srgbClr val="999999"/>
            </a:solidFill>
            <a:prstDash val="solid"/>
            <a:miter/>
          </a:ln>
        </p:spPr>
        <p:txBody>
          <a:bodyPr lIns="36000" tIns="36000" rIns="36000" bIns="36000" anchor="ctr"/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Metasploitable2</a:t>
            </a:r>
          </a:p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192.168.13.141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38" name="フリーフォーム: 図形 37">
            <a:extLst>
              <a:ext uri="{FF2B5EF4-FFF2-40B4-BE49-F238E27FC236}">
                <a16:creationId xmlns:a16="http://schemas.microsoft.com/office/drawing/2014/main" id="{33C1B9EA-B189-725B-CE19-4FD72969BCFD}"/>
              </a:ext>
            </a:extLst>
          </p:cNvPr>
          <p:cNvSpPr/>
          <p:nvPr/>
        </p:nvSpPr>
        <p:spPr>
          <a:xfrm>
            <a:off x="9596915" y="5008547"/>
            <a:ext cx="1532120" cy="382956"/>
          </a:xfrm>
          <a:custGeom>
            <a:avLst/>
            <a:gdLst>
              <a:gd name="csX0" fmla="*/ 1 w 947501"/>
              <a:gd name="csY0" fmla="*/ 1 h 218654"/>
              <a:gd name="csX1" fmla="*/ 947502 w 947501"/>
              <a:gd name="csY1" fmla="*/ 1 h 218654"/>
              <a:gd name="csX2" fmla="*/ 947502 w 947501"/>
              <a:gd name="csY2" fmla="*/ 218655 h 218654"/>
              <a:gd name="csX3" fmla="*/ 1 w 947501"/>
              <a:gd name="csY3" fmla="*/ 218655 h 2186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47501" h="218654">
                <a:moveTo>
                  <a:pt x="1" y="1"/>
                </a:moveTo>
                <a:lnTo>
                  <a:pt x="947502" y="1"/>
                </a:lnTo>
                <a:lnTo>
                  <a:pt x="947502" y="218655"/>
                </a:lnTo>
                <a:lnTo>
                  <a:pt x="1" y="218655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8098" cap="flat">
            <a:solidFill>
              <a:srgbClr val="999999"/>
            </a:solidFill>
            <a:prstDash val="solid"/>
            <a:miter/>
          </a:ln>
        </p:spPr>
        <p:txBody>
          <a:bodyPr lIns="36000" tIns="36000" rIns="36000" bIns="36000" anchor="ctr"/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(</a:t>
            </a:r>
            <a:r>
              <a:rPr lang="ja-JP" altLang="en-US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診断対象</a:t>
            </a:r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)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9364DB03-0475-6496-9B1A-4A65A40EF708}"/>
              </a:ext>
            </a:extLst>
          </p:cNvPr>
          <p:cNvSpPr txBox="1"/>
          <p:nvPr/>
        </p:nvSpPr>
        <p:spPr>
          <a:xfrm>
            <a:off x="10315223" y="4846959"/>
            <a:ext cx="261610" cy="228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00"/>
              </a:lnSpc>
            </a:pPr>
            <a:r>
              <a: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endParaRPr lang="en-US" altLang="ja-JP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ts val="300"/>
              </a:lnSpc>
            </a:pPr>
            <a:r>
              <a:rPr kumimoji="1"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endParaRPr kumimoji="1" lang="en-US" altLang="ja-JP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lnSpc>
                <a:spcPts val="300"/>
              </a:lnSpc>
            </a:pPr>
            <a:r>
              <a:rPr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・</a:t>
            </a:r>
            <a:endParaRPr kumimoji="1" lang="ja-JP" alt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42" name="直線コネクタ 41">
            <a:extLst>
              <a:ext uri="{FF2B5EF4-FFF2-40B4-BE49-F238E27FC236}">
                <a16:creationId xmlns:a16="http://schemas.microsoft.com/office/drawing/2014/main" id="{54C91F63-54FB-D63E-F06E-5FB0978DA9F3}"/>
              </a:ext>
            </a:extLst>
          </p:cNvPr>
          <p:cNvCxnSpPr>
            <a:cxnSpLocks/>
            <a:stCxn id="162" idx="6"/>
          </p:cNvCxnSpPr>
          <p:nvPr/>
        </p:nvCxnSpPr>
        <p:spPr>
          <a:xfrm>
            <a:off x="5045039" y="5885293"/>
            <a:ext cx="3208130" cy="46274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フリーフォーム: 図形 46">
            <a:extLst>
              <a:ext uri="{FF2B5EF4-FFF2-40B4-BE49-F238E27FC236}">
                <a16:creationId xmlns:a16="http://schemas.microsoft.com/office/drawing/2014/main" id="{4A83126C-266A-C99D-8A29-146192440B8D}"/>
              </a:ext>
            </a:extLst>
          </p:cNvPr>
          <p:cNvSpPr/>
          <p:nvPr/>
        </p:nvSpPr>
        <p:spPr>
          <a:xfrm>
            <a:off x="7463429" y="6348043"/>
            <a:ext cx="1960483" cy="382956"/>
          </a:xfrm>
          <a:custGeom>
            <a:avLst/>
            <a:gdLst>
              <a:gd name="csX0" fmla="*/ 1 w 947501"/>
              <a:gd name="csY0" fmla="*/ 1 h 218654"/>
              <a:gd name="csX1" fmla="*/ 947502 w 947501"/>
              <a:gd name="csY1" fmla="*/ 1 h 218654"/>
              <a:gd name="csX2" fmla="*/ 947502 w 947501"/>
              <a:gd name="csY2" fmla="*/ 218655 h 218654"/>
              <a:gd name="csX3" fmla="*/ 1 w 947501"/>
              <a:gd name="csY3" fmla="*/ 218655 h 2186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47501" h="218654">
                <a:moveTo>
                  <a:pt x="1" y="1"/>
                </a:moveTo>
                <a:lnTo>
                  <a:pt x="947502" y="1"/>
                </a:lnTo>
                <a:lnTo>
                  <a:pt x="947502" y="218655"/>
                </a:lnTo>
                <a:lnTo>
                  <a:pt x="1" y="218655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8098" cap="flat">
            <a:solidFill>
              <a:srgbClr val="999999"/>
            </a:solidFill>
            <a:prstDash val="solid"/>
            <a:miter/>
          </a:ln>
        </p:spPr>
        <p:txBody>
          <a:bodyPr lIns="36000" tIns="36000" rIns="36000" bIns="36000" anchor="ctr"/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(</a:t>
            </a:r>
            <a:r>
              <a:rPr lang="ja-JP" altLang="en-US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診断対象</a:t>
            </a:r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)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cxnSp>
        <p:nvCxnSpPr>
          <p:cNvPr id="49" name="直線コネクタ 48">
            <a:extLst>
              <a:ext uri="{FF2B5EF4-FFF2-40B4-BE49-F238E27FC236}">
                <a16:creationId xmlns:a16="http://schemas.microsoft.com/office/drawing/2014/main" id="{48B9CCAF-CB48-F17D-6DA3-8D8023CB0142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3874296" y="6197299"/>
            <a:ext cx="0" cy="16308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テキスト ボックス 127">
            <a:extLst>
              <a:ext uri="{FF2B5EF4-FFF2-40B4-BE49-F238E27FC236}">
                <a16:creationId xmlns:a16="http://schemas.microsoft.com/office/drawing/2014/main" id="{AB6DBAA0-B46C-FEFB-B8F5-30841BFF79F5}"/>
              </a:ext>
            </a:extLst>
          </p:cNvPr>
          <p:cNvSpPr txBox="1"/>
          <p:nvPr/>
        </p:nvSpPr>
        <p:spPr>
          <a:xfrm>
            <a:off x="9080532" y="6343596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…</a:t>
            </a:r>
            <a:endParaRPr kumimoji="1" lang="ja-JP" alt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33" name="直線コネクタ 132">
            <a:extLst>
              <a:ext uri="{FF2B5EF4-FFF2-40B4-BE49-F238E27FC236}">
                <a16:creationId xmlns:a16="http://schemas.microsoft.com/office/drawing/2014/main" id="{DF635D3B-194E-B7C5-B6F3-6482D0C57153}"/>
              </a:ext>
            </a:extLst>
          </p:cNvPr>
          <p:cNvCxnSpPr>
            <a:cxnSpLocks/>
            <a:stCxn id="145" idx="0"/>
            <a:endCxn id="164" idx="2"/>
          </p:cNvCxnSpPr>
          <p:nvPr/>
        </p:nvCxnSpPr>
        <p:spPr>
          <a:xfrm flipH="1" flipV="1">
            <a:off x="3786454" y="3539667"/>
            <a:ext cx="5032" cy="12795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正方形/長方形 144">
            <a:extLst>
              <a:ext uri="{FF2B5EF4-FFF2-40B4-BE49-F238E27FC236}">
                <a16:creationId xmlns:a16="http://schemas.microsoft.com/office/drawing/2014/main" id="{9F99B43E-62C9-432B-9ED6-AE224DD1C88E}"/>
              </a:ext>
            </a:extLst>
          </p:cNvPr>
          <p:cNvSpPr/>
          <p:nvPr/>
        </p:nvSpPr>
        <p:spPr>
          <a:xfrm>
            <a:off x="2812741" y="3667626"/>
            <a:ext cx="1957489" cy="31798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Host Only 192.168.56.7 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164" name="正方形/長方形 163">
            <a:extLst>
              <a:ext uri="{FF2B5EF4-FFF2-40B4-BE49-F238E27FC236}">
                <a16:creationId xmlns:a16="http://schemas.microsoft.com/office/drawing/2014/main" id="{4C2A386B-5903-4B09-D280-54A9CE457E2A}"/>
              </a:ext>
            </a:extLst>
          </p:cNvPr>
          <p:cNvSpPr/>
          <p:nvPr/>
        </p:nvSpPr>
        <p:spPr>
          <a:xfrm>
            <a:off x="2807709" y="3158984"/>
            <a:ext cx="1957489" cy="38068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Host Only 192.168.56.1 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171" name="テキスト ボックス 170">
            <a:extLst>
              <a:ext uri="{FF2B5EF4-FFF2-40B4-BE49-F238E27FC236}">
                <a16:creationId xmlns:a16="http://schemas.microsoft.com/office/drawing/2014/main" id="{6B323910-4967-AA6E-508A-4C536CD89A25}"/>
              </a:ext>
            </a:extLst>
          </p:cNvPr>
          <p:cNvSpPr txBox="1"/>
          <p:nvPr/>
        </p:nvSpPr>
        <p:spPr>
          <a:xfrm>
            <a:off x="9914277" y="3785586"/>
            <a:ext cx="115225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VirtualBox 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173" name="正方形/長方形 172">
            <a:extLst>
              <a:ext uri="{FF2B5EF4-FFF2-40B4-BE49-F238E27FC236}">
                <a16:creationId xmlns:a16="http://schemas.microsoft.com/office/drawing/2014/main" id="{1EEEE1CA-E942-77AF-D1AD-203EB6AD4200}"/>
              </a:ext>
            </a:extLst>
          </p:cNvPr>
          <p:cNvSpPr/>
          <p:nvPr/>
        </p:nvSpPr>
        <p:spPr>
          <a:xfrm>
            <a:off x="2848156" y="1532455"/>
            <a:ext cx="1957489" cy="38068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WiFi</a:t>
            </a:r>
          </a:p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192.168.12.32 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176" name="正方形/長方形 175">
            <a:extLst>
              <a:ext uri="{FF2B5EF4-FFF2-40B4-BE49-F238E27FC236}">
                <a16:creationId xmlns:a16="http://schemas.microsoft.com/office/drawing/2014/main" id="{ED60E780-6A7D-FCB9-1536-C920E591A883}"/>
              </a:ext>
            </a:extLst>
          </p:cNvPr>
          <p:cNvSpPr/>
          <p:nvPr/>
        </p:nvSpPr>
        <p:spPr>
          <a:xfrm>
            <a:off x="2970855" y="983173"/>
            <a:ext cx="1957489" cy="38068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cxnSp>
        <p:nvCxnSpPr>
          <p:cNvPr id="177" name="直線コネクタ 176">
            <a:extLst>
              <a:ext uri="{FF2B5EF4-FFF2-40B4-BE49-F238E27FC236}">
                <a16:creationId xmlns:a16="http://schemas.microsoft.com/office/drawing/2014/main" id="{335E30A8-A1C6-5C37-9010-B2C714DBC59F}"/>
              </a:ext>
            </a:extLst>
          </p:cNvPr>
          <p:cNvCxnSpPr>
            <a:cxnSpLocks/>
          </p:cNvCxnSpPr>
          <p:nvPr/>
        </p:nvCxnSpPr>
        <p:spPr>
          <a:xfrm>
            <a:off x="3915474" y="737639"/>
            <a:ext cx="0" cy="24553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正方形/長方形 180">
            <a:extLst>
              <a:ext uri="{FF2B5EF4-FFF2-40B4-BE49-F238E27FC236}">
                <a16:creationId xmlns:a16="http://schemas.microsoft.com/office/drawing/2014/main" id="{6003D29A-BC2A-302E-EEDB-07C6F6C5156E}"/>
              </a:ext>
            </a:extLst>
          </p:cNvPr>
          <p:cNvSpPr/>
          <p:nvPr/>
        </p:nvSpPr>
        <p:spPr>
          <a:xfrm>
            <a:off x="2700725" y="3681224"/>
            <a:ext cx="8576875" cy="1820427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183" name="フリーフォーム: 図形 182">
            <a:extLst>
              <a:ext uri="{FF2B5EF4-FFF2-40B4-BE49-F238E27FC236}">
                <a16:creationId xmlns:a16="http://schemas.microsoft.com/office/drawing/2014/main" id="{637BEF6B-F736-B03F-A9D4-AB6B72ECC139}"/>
              </a:ext>
            </a:extLst>
          </p:cNvPr>
          <p:cNvSpPr/>
          <p:nvPr/>
        </p:nvSpPr>
        <p:spPr>
          <a:xfrm>
            <a:off x="241300" y="5105993"/>
            <a:ext cx="1960483" cy="382956"/>
          </a:xfrm>
          <a:custGeom>
            <a:avLst/>
            <a:gdLst>
              <a:gd name="csX0" fmla="*/ 1 w 947501"/>
              <a:gd name="csY0" fmla="*/ 1 h 218654"/>
              <a:gd name="csX1" fmla="*/ 947502 w 947501"/>
              <a:gd name="csY1" fmla="*/ 1 h 218654"/>
              <a:gd name="csX2" fmla="*/ 947502 w 947501"/>
              <a:gd name="csY2" fmla="*/ 218655 h 218654"/>
              <a:gd name="csX3" fmla="*/ 1 w 947501"/>
              <a:gd name="csY3" fmla="*/ 218655 h 2186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47501" h="218654">
                <a:moveTo>
                  <a:pt x="1" y="1"/>
                </a:moveTo>
                <a:lnTo>
                  <a:pt x="947502" y="1"/>
                </a:lnTo>
                <a:lnTo>
                  <a:pt x="947502" y="218655"/>
                </a:lnTo>
                <a:lnTo>
                  <a:pt x="1" y="218655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 w="8098" cap="flat">
            <a:solidFill>
              <a:srgbClr val="999999"/>
            </a:solidFill>
            <a:prstDash val="solid"/>
            <a:miter/>
          </a:ln>
        </p:spPr>
        <p:txBody>
          <a:bodyPr lIns="36000" tIns="36000" rIns="36000" bIns="36000" anchor="ctr"/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Ethernet </a:t>
            </a:r>
          </a:p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192.168.64.1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185" name="正方形/長方形 184">
            <a:extLst>
              <a:ext uri="{FF2B5EF4-FFF2-40B4-BE49-F238E27FC236}">
                <a16:creationId xmlns:a16="http://schemas.microsoft.com/office/drawing/2014/main" id="{00D60DDC-7343-CC67-774D-86C5173B17F3}"/>
              </a:ext>
            </a:extLst>
          </p:cNvPr>
          <p:cNvSpPr/>
          <p:nvPr/>
        </p:nvSpPr>
        <p:spPr>
          <a:xfrm>
            <a:off x="2806208" y="5225679"/>
            <a:ext cx="1957489" cy="2762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Bridge192.168.64.3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186" name="正方形/長方形 185">
            <a:extLst>
              <a:ext uri="{FF2B5EF4-FFF2-40B4-BE49-F238E27FC236}">
                <a16:creationId xmlns:a16="http://schemas.microsoft.com/office/drawing/2014/main" id="{C707CAB0-8ED8-E88A-3176-5B0FBA6ADEC0}"/>
              </a:ext>
            </a:extLst>
          </p:cNvPr>
          <p:cNvSpPr/>
          <p:nvPr/>
        </p:nvSpPr>
        <p:spPr>
          <a:xfrm>
            <a:off x="5635546" y="4558496"/>
            <a:ext cx="1465470" cy="33571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Internal </a:t>
            </a:r>
          </a:p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192.168.13.140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187" name="フリーフォーム: 図形 186">
            <a:extLst>
              <a:ext uri="{FF2B5EF4-FFF2-40B4-BE49-F238E27FC236}">
                <a16:creationId xmlns:a16="http://schemas.microsoft.com/office/drawing/2014/main" id="{D9AE68E8-539F-40B2-086C-49BC6A0EF411}"/>
              </a:ext>
            </a:extLst>
          </p:cNvPr>
          <p:cNvSpPr/>
          <p:nvPr/>
        </p:nvSpPr>
        <p:spPr>
          <a:xfrm>
            <a:off x="5169880" y="6337174"/>
            <a:ext cx="1960483" cy="382956"/>
          </a:xfrm>
          <a:custGeom>
            <a:avLst/>
            <a:gdLst>
              <a:gd name="csX0" fmla="*/ 1 w 947501"/>
              <a:gd name="csY0" fmla="*/ 1 h 218654"/>
              <a:gd name="csX1" fmla="*/ 947502 w 947501"/>
              <a:gd name="csY1" fmla="*/ 1 h 218654"/>
              <a:gd name="csX2" fmla="*/ 947502 w 947501"/>
              <a:gd name="csY2" fmla="*/ 218655 h 218654"/>
              <a:gd name="csX3" fmla="*/ 1 w 947501"/>
              <a:gd name="csY3" fmla="*/ 218655 h 2186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47501" h="218654">
                <a:moveTo>
                  <a:pt x="1" y="1"/>
                </a:moveTo>
                <a:lnTo>
                  <a:pt x="947502" y="1"/>
                </a:lnTo>
                <a:lnTo>
                  <a:pt x="947502" y="218655"/>
                </a:lnTo>
                <a:lnTo>
                  <a:pt x="1" y="218655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8098" cap="flat">
            <a:solidFill>
              <a:srgbClr val="999999"/>
            </a:solidFill>
            <a:prstDash val="solid"/>
            <a:miter/>
          </a:ln>
        </p:spPr>
        <p:txBody>
          <a:bodyPr lIns="36000" tIns="36000" rIns="36000" bIns="36000" anchor="ctr"/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Ubuntu24.04</a:t>
            </a:r>
          </a:p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192.168.64.4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188" name="フリーフォーム: 図形 187">
            <a:extLst>
              <a:ext uri="{FF2B5EF4-FFF2-40B4-BE49-F238E27FC236}">
                <a16:creationId xmlns:a16="http://schemas.microsoft.com/office/drawing/2014/main" id="{3719B718-A957-952C-00C9-69237E77EF34}"/>
              </a:ext>
            </a:extLst>
          </p:cNvPr>
          <p:cNvSpPr/>
          <p:nvPr/>
        </p:nvSpPr>
        <p:spPr>
          <a:xfrm>
            <a:off x="2783978" y="6337174"/>
            <a:ext cx="1960483" cy="382956"/>
          </a:xfrm>
          <a:custGeom>
            <a:avLst/>
            <a:gdLst>
              <a:gd name="csX0" fmla="*/ 1 w 947501"/>
              <a:gd name="csY0" fmla="*/ 1 h 218654"/>
              <a:gd name="csX1" fmla="*/ 947502 w 947501"/>
              <a:gd name="csY1" fmla="*/ 1 h 218654"/>
              <a:gd name="csX2" fmla="*/ 947502 w 947501"/>
              <a:gd name="csY2" fmla="*/ 218655 h 218654"/>
              <a:gd name="csX3" fmla="*/ 1 w 947501"/>
              <a:gd name="csY3" fmla="*/ 218655 h 2186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47501" h="218654">
                <a:moveTo>
                  <a:pt x="1" y="1"/>
                </a:moveTo>
                <a:lnTo>
                  <a:pt x="947502" y="1"/>
                </a:lnTo>
                <a:lnTo>
                  <a:pt x="947502" y="218655"/>
                </a:lnTo>
                <a:lnTo>
                  <a:pt x="1" y="218655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8098" cap="flat">
            <a:solidFill>
              <a:srgbClr val="999999"/>
            </a:solidFill>
            <a:prstDash val="solid"/>
            <a:miter/>
          </a:ln>
        </p:spPr>
        <p:txBody>
          <a:bodyPr lIns="36000" tIns="36000" rIns="36000" bIns="36000" anchor="ctr"/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Ubuntu24.04</a:t>
            </a:r>
          </a:p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192.168.64.2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190" name="正方形/長方形 189">
            <a:extLst>
              <a:ext uri="{FF2B5EF4-FFF2-40B4-BE49-F238E27FC236}">
                <a16:creationId xmlns:a16="http://schemas.microsoft.com/office/drawing/2014/main" id="{12423B82-E003-2A5F-73A7-955C0B580E5A}"/>
              </a:ext>
            </a:extLst>
          </p:cNvPr>
          <p:cNvSpPr/>
          <p:nvPr/>
        </p:nvSpPr>
        <p:spPr>
          <a:xfrm>
            <a:off x="5584405" y="2659818"/>
            <a:ext cx="1957489" cy="38068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191" name="正方形/長方形 190">
            <a:extLst>
              <a:ext uri="{FF2B5EF4-FFF2-40B4-BE49-F238E27FC236}">
                <a16:creationId xmlns:a16="http://schemas.microsoft.com/office/drawing/2014/main" id="{38CCDDA4-EBCF-8766-98DA-B7743E649D36}"/>
              </a:ext>
            </a:extLst>
          </p:cNvPr>
          <p:cNvSpPr/>
          <p:nvPr/>
        </p:nvSpPr>
        <p:spPr>
          <a:xfrm>
            <a:off x="7541896" y="1622524"/>
            <a:ext cx="2372381" cy="1421344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192" name="フリーフォーム: 図形 191">
            <a:extLst>
              <a:ext uri="{FF2B5EF4-FFF2-40B4-BE49-F238E27FC236}">
                <a16:creationId xmlns:a16="http://schemas.microsoft.com/office/drawing/2014/main" id="{FFB61A20-C33E-7445-E66C-CE2E2317526C}"/>
              </a:ext>
            </a:extLst>
          </p:cNvPr>
          <p:cNvSpPr/>
          <p:nvPr/>
        </p:nvSpPr>
        <p:spPr>
          <a:xfrm>
            <a:off x="7755086" y="1964401"/>
            <a:ext cx="1957481" cy="523332"/>
          </a:xfrm>
          <a:custGeom>
            <a:avLst/>
            <a:gdLst>
              <a:gd name="csX0" fmla="*/ 1 w 947501"/>
              <a:gd name="csY0" fmla="*/ 1 h 218654"/>
              <a:gd name="csX1" fmla="*/ 947502 w 947501"/>
              <a:gd name="csY1" fmla="*/ 1 h 218654"/>
              <a:gd name="csX2" fmla="*/ 947502 w 947501"/>
              <a:gd name="csY2" fmla="*/ 218655 h 218654"/>
              <a:gd name="csX3" fmla="*/ 1 w 947501"/>
              <a:gd name="csY3" fmla="*/ 218655 h 2186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47501" h="218654">
                <a:moveTo>
                  <a:pt x="1" y="1"/>
                </a:moveTo>
                <a:lnTo>
                  <a:pt x="947502" y="1"/>
                </a:lnTo>
                <a:lnTo>
                  <a:pt x="947502" y="218655"/>
                </a:lnTo>
                <a:lnTo>
                  <a:pt x="1" y="218655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8098" cap="flat">
            <a:solidFill>
              <a:srgbClr val="999999"/>
            </a:solidFill>
            <a:prstDash val="solid"/>
            <a:miter/>
          </a:ln>
        </p:spPr>
        <p:txBody>
          <a:bodyPr lIns="36000" tIns="36000" rIns="36000" bIns="36000" anchor="ctr"/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Ubuntu</a:t>
            </a:r>
          </a:p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TinyProxy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193" name="正方形/長方形 192">
            <a:extLst>
              <a:ext uri="{FF2B5EF4-FFF2-40B4-BE49-F238E27FC236}">
                <a16:creationId xmlns:a16="http://schemas.microsoft.com/office/drawing/2014/main" id="{6A8750F2-2249-EFCF-C85E-319DA5D23500}"/>
              </a:ext>
            </a:extLst>
          </p:cNvPr>
          <p:cNvSpPr/>
          <p:nvPr/>
        </p:nvSpPr>
        <p:spPr>
          <a:xfrm>
            <a:off x="7755086" y="2500183"/>
            <a:ext cx="1957489" cy="38068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vEthernet</a:t>
            </a:r>
          </a:p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172.30.208.1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194" name="テキスト ボックス 193">
            <a:extLst>
              <a:ext uri="{FF2B5EF4-FFF2-40B4-BE49-F238E27FC236}">
                <a16:creationId xmlns:a16="http://schemas.microsoft.com/office/drawing/2014/main" id="{830A19A3-CE26-C061-C450-17D31087226E}"/>
              </a:ext>
            </a:extLst>
          </p:cNvPr>
          <p:cNvSpPr txBox="1"/>
          <p:nvPr/>
        </p:nvSpPr>
        <p:spPr>
          <a:xfrm>
            <a:off x="7755086" y="1657265"/>
            <a:ext cx="174272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WSL</a:t>
            </a:r>
            <a:endParaRPr lang="ja-JP" altLang="en-US" sz="12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cxnSp>
        <p:nvCxnSpPr>
          <p:cNvPr id="200" name="直線コネクタ 199">
            <a:extLst>
              <a:ext uri="{FF2B5EF4-FFF2-40B4-BE49-F238E27FC236}">
                <a16:creationId xmlns:a16="http://schemas.microsoft.com/office/drawing/2014/main" id="{9B42BB9E-0868-C519-3B0D-F40F9967D7EC}"/>
              </a:ext>
            </a:extLst>
          </p:cNvPr>
          <p:cNvCxnSpPr>
            <a:cxnSpLocks/>
            <a:stCxn id="162" idx="5"/>
          </p:cNvCxnSpPr>
          <p:nvPr/>
        </p:nvCxnSpPr>
        <p:spPr>
          <a:xfrm>
            <a:off x="4692461" y="6077009"/>
            <a:ext cx="1361146" cy="26016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直線コネクタ 207">
            <a:extLst>
              <a:ext uri="{FF2B5EF4-FFF2-40B4-BE49-F238E27FC236}">
                <a16:creationId xmlns:a16="http://schemas.microsoft.com/office/drawing/2014/main" id="{CF9A57F1-DE70-CD5C-E4FB-19EC49C66B0C}"/>
              </a:ext>
            </a:extLst>
          </p:cNvPr>
          <p:cNvCxnSpPr>
            <a:cxnSpLocks/>
            <a:stCxn id="185" idx="1"/>
            <a:endCxn id="183" idx="1"/>
          </p:cNvCxnSpPr>
          <p:nvPr/>
        </p:nvCxnSpPr>
        <p:spPr>
          <a:xfrm flipH="1" flipV="1">
            <a:off x="2201785" y="5105995"/>
            <a:ext cx="604423" cy="25783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直線コネクタ 208">
            <a:extLst>
              <a:ext uri="{FF2B5EF4-FFF2-40B4-BE49-F238E27FC236}">
                <a16:creationId xmlns:a16="http://schemas.microsoft.com/office/drawing/2014/main" id="{2271C5BA-A42A-D9C8-B981-E48D4F2C6116}"/>
              </a:ext>
            </a:extLst>
          </p:cNvPr>
          <p:cNvCxnSpPr>
            <a:cxnSpLocks/>
            <a:endCxn id="162" idx="0"/>
          </p:cNvCxnSpPr>
          <p:nvPr/>
        </p:nvCxnSpPr>
        <p:spPr>
          <a:xfrm>
            <a:off x="3815726" y="5486844"/>
            <a:ext cx="25536" cy="1273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直線コネクタ 212">
            <a:extLst>
              <a:ext uri="{FF2B5EF4-FFF2-40B4-BE49-F238E27FC236}">
                <a16:creationId xmlns:a16="http://schemas.microsoft.com/office/drawing/2014/main" id="{799CC41A-8E0B-7164-1DC2-34A1E2FA362A}"/>
              </a:ext>
            </a:extLst>
          </p:cNvPr>
          <p:cNvCxnSpPr>
            <a:cxnSpLocks/>
            <a:stCxn id="190" idx="2"/>
            <a:endCxn id="164" idx="3"/>
          </p:cNvCxnSpPr>
          <p:nvPr/>
        </p:nvCxnSpPr>
        <p:spPr>
          <a:xfrm flipH="1">
            <a:off x="4765198" y="3040501"/>
            <a:ext cx="1797952" cy="3088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直線コネクタ 216">
            <a:extLst>
              <a:ext uri="{FF2B5EF4-FFF2-40B4-BE49-F238E27FC236}">
                <a16:creationId xmlns:a16="http://schemas.microsoft.com/office/drawing/2014/main" id="{3A295A1B-5E5A-797E-C36E-0DE67AA4EF21}"/>
              </a:ext>
            </a:extLst>
          </p:cNvPr>
          <p:cNvCxnSpPr>
            <a:cxnSpLocks/>
            <a:stCxn id="173" idx="2"/>
            <a:endCxn id="190" idx="0"/>
          </p:cNvCxnSpPr>
          <p:nvPr/>
        </p:nvCxnSpPr>
        <p:spPr>
          <a:xfrm>
            <a:off x="3826901" y="1913138"/>
            <a:ext cx="2736249" cy="74668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テキスト ボックス 230">
            <a:extLst>
              <a:ext uri="{FF2B5EF4-FFF2-40B4-BE49-F238E27FC236}">
                <a16:creationId xmlns:a16="http://schemas.microsoft.com/office/drawing/2014/main" id="{81D54EDF-FE80-B2F5-BE61-2C9627A1226E}"/>
              </a:ext>
            </a:extLst>
          </p:cNvPr>
          <p:cNvSpPr txBox="1"/>
          <p:nvPr/>
        </p:nvSpPr>
        <p:spPr>
          <a:xfrm>
            <a:off x="289238" y="5486844"/>
            <a:ext cx="15359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ja-JP" sz="1200" dirty="0" err="1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sym typeface="ＭＳ ゴシック"/>
                <a:rtl val="0"/>
              </a:rPr>
              <a:t>DefaultGW</a:t>
            </a:r>
            <a:r>
              <a:rPr lang="ja-JP" altLang="en-US" sz="1200" spc="0" baseline="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sym typeface="ＭＳ ゴシック"/>
                <a:rtl val="0"/>
              </a:rPr>
              <a:t>設定なし</a:t>
            </a:r>
          </a:p>
        </p:txBody>
      </p:sp>
      <p:pic>
        <p:nvPicPr>
          <p:cNvPr id="245" name="グラフィックス 244" descr="雲 枠線">
            <a:extLst>
              <a:ext uri="{FF2B5EF4-FFF2-40B4-BE49-F238E27FC236}">
                <a16:creationId xmlns:a16="http://schemas.microsoft.com/office/drawing/2014/main" id="{CF6C0C49-C55B-8E32-6812-A2F4B1060C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69478" y="-444500"/>
            <a:ext cx="1891994" cy="1601503"/>
          </a:xfrm>
          <a:prstGeom prst="rect">
            <a:avLst/>
          </a:prstGeom>
        </p:spPr>
      </p:pic>
      <p:cxnSp>
        <p:nvCxnSpPr>
          <p:cNvPr id="263" name="直線コネクタ 262">
            <a:extLst>
              <a:ext uri="{FF2B5EF4-FFF2-40B4-BE49-F238E27FC236}">
                <a16:creationId xmlns:a16="http://schemas.microsoft.com/office/drawing/2014/main" id="{58931FE5-40FD-E578-24FF-778A6CB4FC1E}"/>
              </a:ext>
            </a:extLst>
          </p:cNvPr>
          <p:cNvCxnSpPr>
            <a:cxnSpLocks/>
            <a:endCxn id="162" idx="2"/>
          </p:cNvCxnSpPr>
          <p:nvPr/>
        </p:nvCxnSpPr>
        <p:spPr>
          <a:xfrm>
            <a:off x="1720337" y="5502100"/>
            <a:ext cx="917147" cy="38319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直線コネクタ 265">
            <a:extLst>
              <a:ext uri="{FF2B5EF4-FFF2-40B4-BE49-F238E27FC236}">
                <a16:creationId xmlns:a16="http://schemas.microsoft.com/office/drawing/2014/main" id="{A2F97B48-36BF-4D79-43D5-7AB803DA3393}"/>
              </a:ext>
            </a:extLst>
          </p:cNvPr>
          <p:cNvCxnSpPr>
            <a:cxnSpLocks/>
          </p:cNvCxnSpPr>
          <p:nvPr/>
        </p:nvCxnSpPr>
        <p:spPr>
          <a:xfrm>
            <a:off x="3849119" y="1371395"/>
            <a:ext cx="0" cy="2058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2" name="四角形: 角を丸くする 271">
            <a:extLst>
              <a:ext uri="{FF2B5EF4-FFF2-40B4-BE49-F238E27FC236}">
                <a16:creationId xmlns:a16="http://schemas.microsoft.com/office/drawing/2014/main" id="{D5C1B043-18B1-9016-0DA1-B40B1801A996}"/>
              </a:ext>
            </a:extLst>
          </p:cNvPr>
          <p:cNvSpPr/>
          <p:nvPr/>
        </p:nvSpPr>
        <p:spPr>
          <a:xfrm>
            <a:off x="2952344" y="4408392"/>
            <a:ext cx="2497456" cy="21134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Antigravity Remote </a:t>
            </a:r>
            <a:r>
              <a:rPr lang="en-US" altLang="ja-JP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Window</a:t>
            </a:r>
            <a:endParaRPr kumimoji="1" lang="ja-JP" altLang="en-US" sz="11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73" name="四角形: 角を丸くする 272">
            <a:extLst>
              <a:ext uri="{FF2B5EF4-FFF2-40B4-BE49-F238E27FC236}">
                <a16:creationId xmlns:a16="http://schemas.microsoft.com/office/drawing/2014/main" id="{E64E5832-21E7-7B60-9663-B655D16C684E}"/>
              </a:ext>
            </a:extLst>
          </p:cNvPr>
          <p:cNvSpPr/>
          <p:nvPr/>
        </p:nvSpPr>
        <p:spPr>
          <a:xfrm>
            <a:off x="2952344" y="4724447"/>
            <a:ext cx="2497456" cy="41062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セキュリティ診断ツール</a:t>
            </a:r>
          </a:p>
        </p:txBody>
      </p:sp>
      <p:sp>
        <p:nvSpPr>
          <p:cNvPr id="281" name="フリーフォーム: 図形 280">
            <a:extLst>
              <a:ext uri="{FF2B5EF4-FFF2-40B4-BE49-F238E27FC236}">
                <a16:creationId xmlns:a16="http://schemas.microsoft.com/office/drawing/2014/main" id="{4BEC0CC5-8C57-8021-3A10-A58544DCF0A4}"/>
              </a:ext>
            </a:extLst>
          </p:cNvPr>
          <p:cNvSpPr/>
          <p:nvPr/>
        </p:nvSpPr>
        <p:spPr>
          <a:xfrm>
            <a:off x="4922647" y="114879"/>
            <a:ext cx="1960483" cy="382956"/>
          </a:xfrm>
          <a:custGeom>
            <a:avLst/>
            <a:gdLst>
              <a:gd name="csX0" fmla="*/ 1 w 947501"/>
              <a:gd name="csY0" fmla="*/ 1 h 218654"/>
              <a:gd name="csX1" fmla="*/ 947502 w 947501"/>
              <a:gd name="csY1" fmla="*/ 1 h 218654"/>
              <a:gd name="csX2" fmla="*/ 947502 w 947501"/>
              <a:gd name="csY2" fmla="*/ 218655 h 218654"/>
              <a:gd name="csX3" fmla="*/ 1 w 947501"/>
              <a:gd name="csY3" fmla="*/ 218655 h 2186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47501" h="218654">
                <a:moveTo>
                  <a:pt x="1" y="1"/>
                </a:moveTo>
                <a:lnTo>
                  <a:pt x="947502" y="1"/>
                </a:lnTo>
                <a:lnTo>
                  <a:pt x="947502" y="218655"/>
                </a:lnTo>
                <a:lnTo>
                  <a:pt x="1" y="218655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8098" cap="flat">
            <a:solidFill>
              <a:srgbClr val="999999"/>
            </a:solidFill>
            <a:prstDash val="solid"/>
            <a:miter/>
          </a:ln>
        </p:spPr>
        <p:txBody>
          <a:bodyPr lIns="36000" tIns="36000" rIns="36000" bIns="36000" anchor="ctr"/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Google/Microsoft</a:t>
            </a:r>
            <a:r>
              <a:rPr lang="ja-JP" altLang="en-US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など</a:t>
            </a:r>
          </a:p>
        </p:txBody>
      </p:sp>
      <p:sp>
        <p:nvSpPr>
          <p:cNvPr id="307" name="テキスト ボックス 306">
            <a:extLst>
              <a:ext uri="{FF2B5EF4-FFF2-40B4-BE49-F238E27FC236}">
                <a16:creationId xmlns:a16="http://schemas.microsoft.com/office/drawing/2014/main" id="{2F88033C-8E9C-5878-1695-5237FA85BFB4}"/>
              </a:ext>
            </a:extLst>
          </p:cNvPr>
          <p:cNvSpPr txBox="1"/>
          <p:nvPr/>
        </p:nvSpPr>
        <p:spPr>
          <a:xfrm>
            <a:off x="3023381" y="940569"/>
            <a:ext cx="183809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1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Default GW</a:t>
            </a:r>
          </a:p>
          <a:p>
            <a:pPr algn="ctr"/>
            <a:r>
              <a:rPr lang="en-US" altLang="ja-JP" sz="11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192.168.12.1</a:t>
            </a:r>
            <a:endParaRPr lang="ja-JP" altLang="en-US" sz="1100" dirty="0">
              <a:ln/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  <p:sp>
        <p:nvSpPr>
          <p:cNvPr id="309" name="テキスト ボックス 308">
            <a:extLst>
              <a:ext uri="{FF2B5EF4-FFF2-40B4-BE49-F238E27FC236}">
                <a16:creationId xmlns:a16="http://schemas.microsoft.com/office/drawing/2014/main" id="{2BEC8DE8-54B9-035C-C0E5-1F18A32E9A79}"/>
              </a:ext>
            </a:extLst>
          </p:cNvPr>
          <p:cNvSpPr txBox="1"/>
          <p:nvPr/>
        </p:nvSpPr>
        <p:spPr>
          <a:xfrm>
            <a:off x="3497056" y="256530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WSL vEthernet</a:t>
            </a:r>
          </a:p>
          <a:p>
            <a:pPr algn="ctr"/>
            <a:r>
              <a:rPr lang="en-US" altLang="ja-JP" sz="1200" dirty="0">
                <a:ln/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172.30.208.1</a:t>
            </a:r>
            <a:endParaRPr lang="ja-JP" altLang="en-US" sz="1200" dirty="0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E7525ED-75EC-BCE5-19F8-D99DA0E955A4}"/>
              </a:ext>
            </a:extLst>
          </p:cNvPr>
          <p:cNvSpPr/>
          <p:nvPr/>
        </p:nvSpPr>
        <p:spPr>
          <a:xfrm>
            <a:off x="497922" y="1660546"/>
            <a:ext cx="1528066" cy="338555"/>
          </a:xfrm>
          <a:prstGeom prst="roundRect">
            <a:avLst>
              <a:gd name="adj" fmla="val 20385"/>
            </a:avLst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ln/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Helvetica"/>
                <a:sym typeface="Helvetica"/>
                <a:rtl val="0"/>
              </a:rPr>
              <a:t>Windows11</a:t>
            </a:r>
            <a:endParaRPr lang="ja-JP" altLang="en-US" dirty="0">
              <a:ln/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  <a:cs typeface="Helvetica"/>
              <a:sym typeface="Helvetica"/>
              <a:rtl val="0"/>
            </a:endParaRPr>
          </a:p>
        </p:txBody>
      </p:sp>
    </p:spTree>
    <p:extLst>
      <p:ext uri="{BB962C8B-B14F-4D97-AF65-F5344CB8AC3E}">
        <p14:creationId xmlns:p14="http://schemas.microsoft.com/office/powerpoint/2010/main" val="14459990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1700</TotalTime>
  <Words>833</Words>
  <Application>Microsoft Office PowerPoint</Application>
  <PresentationFormat>ワイド画面</PresentationFormat>
  <Paragraphs>235</Paragraphs>
  <Slides>6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Meiryo UI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米田健</dc:creator>
  <cp:lastModifiedBy>健（個人） 米田</cp:lastModifiedBy>
  <cp:revision>15</cp:revision>
  <cp:lastPrinted>2026-03-25T01:51:26Z</cp:lastPrinted>
  <dcterms:created xsi:type="dcterms:W3CDTF">2026-03-24T05:50:33Z</dcterms:created>
  <dcterms:modified xsi:type="dcterms:W3CDTF">2026-04-04T00:02:25Z</dcterms:modified>
</cp:coreProperties>
</file>