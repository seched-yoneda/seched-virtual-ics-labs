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7104063" cy="102346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29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92" autoAdjust="0"/>
    <p:restoredTop sz="94548" autoAdjust="0"/>
  </p:normalViewPr>
  <p:slideViewPr>
    <p:cSldViewPr snapToGrid="0" showGuides="1">
      <p:cViewPr varScale="1">
        <p:scale>
          <a:sx n="43" d="100"/>
          <a:sy n="43" d="100"/>
        </p:scale>
        <p:origin x="365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9E7EA6E4-D20E-4F37-A15A-3D9966CC0CE1}" type="datetimeFigureOut">
              <a:rPr kumimoji="1" lang="ja-JP" altLang="en-US" smtClean="0"/>
              <a:t>2026/4/26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9B3FF737-722B-4C3A-9391-2058EAE094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8736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20E30-2FCE-F745-3BFB-E455B5057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173CDE5-34F1-678E-3FA3-E7747FD60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E1E7717-2219-8129-77AE-335077D75D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6CE880A-378F-5AAA-6AB6-6C3A3C023B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FF737-722B-4C3A-9391-2058EAE0944F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329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A3803E-2E31-F42E-BDE8-E004CA18F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EC99601-FF81-C1C0-7D9E-4F2461905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7590E8-4C97-6AEE-BFFF-85D3D4A33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6783-A5DD-41E9-A062-337D84B192A0}" type="datetimeFigureOut">
              <a:rPr kumimoji="1" lang="ja-JP" altLang="en-US" smtClean="0"/>
              <a:t>2026/4/26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C92EFA-3D3D-3C7A-C9BE-F37F7C73A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3FB59A-E749-9298-B058-6C55F27C5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10047-09DB-4F30-A4B5-BAE9429225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6245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AFBD68-ADFA-8F02-0193-9D1E97B75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F823F65-E698-5A81-F48B-7C9E1D7E8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47A4DD-CC25-7A97-9B12-839099243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6783-A5DD-41E9-A062-337D84B192A0}" type="datetimeFigureOut">
              <a:rPr kumimoji="1" lang="ja-JP" altLang="en-US" smtClean="0"/>
              <a:t>2026/4/26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546CF5-C466-A4C0-FF3C-47F27E091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510D7E-FABA-5E88-58B7-1B436FF59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10047-09DB-4F30-A4B5-BAE9429225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8974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C4BD57-11DB-D96E-D17A-E1BFC8D5B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4854D43-2858-7BBD-31D4-7594656E4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F561AD2-193A-E708-DAF1-6A8003B13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6783-A5DD-41E9-A062-337D84B192A0}" type="datetimeFigureOut">
              <a:rPr kumimoji="1" lang="ja-JP" altLang="en-US" smtClean="0"/>
              <a:t>2026/4/26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1EF5A6-DAC5-6C19-0DFC-E2C03ACF0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746D26-ADE0-ED63-BD6B-BEACBA660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10047-09DB-4F30-A4B5-BAE9429225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861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C10381-3732-0EE2-AD33-45FFD989A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2748DF-518E-F43A-BB82-69781BA429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8E4F485-52E7-8A93-82BC-E2806B03AA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C0F151C-753E-0C9B-67CA-D490D82B2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6783-A5DD-41E9-A062-337D84B192A0}" type="datetimeFigureOut">
              <a:rPr kumimoji="1" lang="ja-JP" altLang="en-US" smtClean="0"/>
              <a:t>2026/4/26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CA427D0-4C7C-E44E-D00B-CCC1FDAE0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597614D-EA24-B54D-26BB-9954725F8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10047-09DB-4F30-A4B5-BAE9429225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671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B59CAC-1EC7-0D40-34AB-EBE553910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E27F6AC-DEBE-D459-5145-10EE6A141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7D0895C-E579-40BE-A301-DDC4508C53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4BBD7A1-55CE-B96E-3703-423702EAE6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1E8C9A2-57C6-2B97-25BA-1746B39AF4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6971235-2DD1-FB8F-BF82-F0CCE1AF9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6783-A5DD-41E9-A062-337D84B192A0}" type="datetimeFigureOut">
              <a:rPr kumimoji="1" lang="ja-JP" altLang="en-US" smtClean="0"/>
              <a:t>2026/4/26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D84DFCC-7BBD-B3A5-90D9-30AEFEA75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41F9D46-C767-311B-FC02-578393CBB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10047-09DB-4F30-A4B5-BAE9429225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4940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16FEB5A-BC23-5DA5-CD60-6E0EB338E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010C7F3-CC8B-2D07-9E16-B9D8B150B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6783-A5DD-41E9-A062-337D84B192A0}" type="datetimeFigureOut">
              <a:rPr kumimoji="1" lang="ja-JP" altLang="en-US" smtClean="0"/>
              <a:t>2026/4/26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721BB8F-87FD-7BD3-1641-8FB08C50D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493D610-A223-039B-98D9-968B6026C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10047-09DB-4F30-A4B5-BAE9429225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4078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1504778-187E-EA97-106D-1DD3BBCFE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6783-A5DD-41E9-A062-337D84B192A0}" type="datetimeFigureOut">
              <a:rPr kumimoji="1" lang="ja-JP" altLang="en-US" smtClean="0"/>
              <a:t>2026/4/26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1432921-FA1B-8441-3883-5213D110E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30DEF73-BFBF-5E9B-ADE9-D553EB914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10047-09DB-4F30-A4B5-BAE9429225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8958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EC3349-B105-CB5A-133E-0DC4BEB9A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15E850A-A2DA-C9DC-CACB-3C7818401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4779F9D-3F8F-4703-70B6-4BA56B975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C26C83A-0129-AC84-6FB0-0501FBCFA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6783-A5DD-41E9-A062-337D84B192A0}" type="datetimeFigureOut">
              <a:rPr kumimoji="1" lang="ja-JP" altLang="en-US" smtClean="0"/>
              <a:t>2026/4/26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D671BD2-5129-6176-4416-000214A8B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FB26EAA-52B6-2949-3305-89CE2B0F4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10047-09DB-4F30-A4B5-BAE9429225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4126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69B485-B042-8C1A-18FC-DCBA2DD8C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5370D16-D046-C87D-EC9B-F4AE2FAC07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EDFAD54-EBC0-ECCA-1C59-4CE7C5D3CE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D6F96F7-653C-AF37-B1BD-D2688E4FC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6783-A5DD-41E9-A062-337D84B192A0}" type="datetimeFigureOut">
              <a:rPr kumimoji="1" lang="ja-JP" altLang="en-US" smtClean="0"/>
              <a:t>2026/4/26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FDC44AA-9A8B-F74A-F3EE-D3EC7295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026393B-A6CB-2353-2873-6D2B4CD77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10047-09DB-4F30-A4B5-BAE9429225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2283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5878A5-3BA6-4F24-B7B7-07C2ABCEF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AADEBCF-B3A9-9D80-B4F0-8DF6AB1C8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5B31F7-AE04-FFCE-2651-3E150F3EA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6783-A5DD-41E9-A062-337D84B192A0}" type="datetimeFigureOut">
              <a:rPr kumimoji="1" lang="ja-JP" altLang="en-US" smtClean="0"/>
              <a:t>2026/4/26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C19BB7-C18E-10D8-8D47-80910BE4F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82558C-D2FF-EB7A-06F8-89A04E925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10047-09DB-4F30-A4B5-BAE9429225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1834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BCB4C7E-EC30-236E-8D0A-23BC61593F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E4B2040-FE60-E1BA-4693-871502F58B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2B588C-DFDB-9781-520C-336E7A306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16783-A5DD-41E9-A062-337D84B192A0}" type="datetimeFigureOut">
              <a:rPr kumimoji="1" lang="ja-JP" altLang="en-US" smtClean="0"/>
              <a:t>2026/4/26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B2F2DD-69BD-CCF0-C598-94A6F94CF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1B0EA8-6879-B08D-AB0B-BA26F6AEA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10047-09DB-4F30-A4B5-BAE9429225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83187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1DC9E69-4C22-222A-1116-ED03E0C80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7C39073-B3CC-8F14-F06F-AA24E14BE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9445CB-5190-9D8C-497F-DA8E8FA264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316783-A5DD-41E9-A062-337D84B192A0}" type="datetimeFigureOut">
              <a:rPr kumimoji="1" lang="ja-JP" altLang="en-US" smtClean="0"/>
              <a:t>2026/4/26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14AEDC-AAAF-FA4B-7474-DCD57D8A3A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1BEDF0-BD08-0323-D339-1E0DB8440B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110047-09DB-4F30-A4B5-BAE9429225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7793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85064-BD72-D9DA-C419-35AEC1186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四角形: 角を丸くする 309">
            <a:extLst>
              <a:ext uri="{FF2B5EF4-FFF2-40B4-BE49-F238E27FC236}">
                <a16:creationId xmlns:a16="http://schemas.microsoft.com/office/drawing/2014/main" id="{4A9CFFAB-1E54-2AEA-E61F-2E1C6F2232C1}"/>
              </a:ext>
            </a:extLst>
          </p:cNvPr>
          <p:cNvSpPr/>
          <p:nvPr/>
        </p:nvSpPr>
        <p:spPr>
          <a:xfrm>
            <a:off x="572600" y="1719470"/>
            <a:ext cx="11223869" cy="3568147"/>
          </a:xfrm>
          <a:prstGeom prst="roundRect">
            <a:avLst>
              <a:gd name="adj" fmla="val 5380"/>
            </a:avLst>
          </a:prstGeom>
          <a:solidFill>
            <a:schemeClr val="bg2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8" name="四角形: 角を丸くする 317">
            <a:extLst>
              <a:ext uri="{FF2B5EF4-FFF2-40B4-BE49-F238E27FC236}">
                <a16:creationId xmlns:a16="http://schemas.microsoft.com/office/drawing/2014/main" id="{BC1A9A06-3757-0E70-FC07-6CE2C8D9D489}"/>
              </a:ext>
            </a:extLst>
          </p:cNvPr>
          <p:cNvSpPr/>
          <p:nvPr/>
        </p:nvSpPr>
        <p:spPr>
          <a:xfrm>
            <a:off x="2982597" y="3418979"/>
            <a:ext cx="8802404" cy="1849205"/>
          </a:xfrm>
          <a:prstGeom prst="roundRect">
            <a:avLst>
              <a:gd name="adj" fmla="val 5380"/>
            </a:avLst>
          </a:prstGeom>
          <a:solidFill>
            <a:schemeClr val="bg2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9" name="四角形: 角を丸くする 338">
            <a:extLst>
              <a:ext uri="{FF2B5EF4-FFF2-40B4-BE49-F238E27FC236}">
                <a16:creationId xmlns:a16="http://schemas.microsoft.com/office/drawing/2014/main" id="{D4559381-C012-2FF3-31D8-1CC07076C780}"/>
              </a:ext>
            </a:extLst>
          </p:cNvPr>
          <p:cNvSpPr/>
          <p:nvPr/>
        </p:nvSpPr>
        <p:spPr>
          <a:xfrm>
            <a:off x="3099387" y="3776977"/>
            <a:ext cx="2845430" cy="1168144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2" name="四角形: 角を丸くする 311">
            <a:extLst>
              <a:ext uri="{FF2B5EF4-FFF2-40B4-BE49-F238E27FC236}">
                <a16:creationId xmlns:a16="http://schemas.microsoft.com/office/drawing/2014/main" id="{A2501EF3-356B-7E47-095A-B8E1A20CEF76}"/>
              </a:ext>
            </a:extLst>
          </p:cNvPr>
          <p:cNvSpPr/>
          <p:nvPr/>
        </p:nvSpPr>
        <p:spPr>
          <a:xfrm>
            <a:off x="7885253" y="2054087"/>
            <a:ext cx="1696727" cy="1001628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3" name="テキスト ボックス 162">
            <a:extLst>
              <a:ext uri="{FF2B5EF4-FFF2-40B4-BE49-F238E27FC236}">
                <a16:creationId xmlns:a16="http://schemas.microsoft.com/office/drawing/2014/main" id="{AF6D0E78-26DD-558F-339B-E0A6FF811C05}"/>
              </a:ext>
            </a:extLst>
          </p:cNvPr>
          <p:cNvSpPr txBox="1"/>
          <p:nvPr/>
        </p:nvSpPr>
        <p:spPr>
          <a:xfrm>
            <a:off x="1373970" y="432419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ja-JP" altLang="en-US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891F7D8-C4CF-963B-64CD-B64B5F9D29D9}"/>
              </a:ext>
            </a:extLst>
          </p:cNvPr>
          <p:cNvSpPr txBox="1"/>
          <p:nvPr/>
        </p:nvSpPr>
        <p:spPr>
          <a:xfrm>
            <a:off x="5190731" y="5494341"/>
            <a:ext cx="3571306" cy="25391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Internal networks for physical OSs 10.77.x.0/24  </a:t>
            </a:r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3F38E59-5B6C-F0BB-74A7-13CE6D42BE69}"/>
              </a:ext>
            </a:extLst>
          </p:cNvPr>
          <p:cNvSpPr txBox="1"/>
          <p:nvPr/>
        </p:nvSpPr>
        <p:spPr>
          <a:xfrm>
            <a:off x="8937974" y="4039870"/>
            <a:ext cx="2520964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Internal network for gest OSs</a:t>
            </a:r>
          </a:p>
          <a:p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10.7.x.0/24 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77" name="直線コネクタ 176">
            <a:extLst>
              <a:ext uri="{FF2B5EF4-FFF2-40B4-BE49-F238E27FC236}">
                <a16:creationId xmlns:a16="http://schemas.microsoft.com/office/drawing/2014/main" id="{65CF4FC9-44DB-756C-7B93-CB6F13CD12A9}"/>
              </a:ext>
            </a:extLst>
          </p:cNvPr>
          <p:cNvCxnSpPr>
            <a:cxnSpLocks/>
          </p:cNvCxnSpPr>
          <p:nvPr/>
        </p:nvCxnSpPr>
        <p:spPr>
          <a:xfrm>
            <a:off x="3787588" y="1075169"/>
            <a:ext cx="0" cy="1662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直線コネクタ 265">
            <a:extLst>
              <a:ext uri="{FF2B5EF4-FFF2-40B4-BE49-F238E27FC236}">
                <a16:creationId xmlns:a16="http://schemas.microsoft.com/office/drawing/2014/main" id="{4B47363F-03C0-8A37-829E-E9EB1DF3C492}"/>
              </a:ext>
            </a:extLst>
          </p:cNvPr>
          <p:cNvCxnSpPr>
            <a:cxnSpLocks/>
          </p:cNvCxnSpPr>
          <p:nvPr/>
        </p:nvCxnSpPr>
        <p:spPr>
          <a:xfrm>
            <a:off x="3834593" y="1422195"/>
            <a:ext cx="0" cy="6843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2" name="四角形: 角を丸くする 271">
            <a:extLst>
              <a:ext uri="{FF2B5EF4-FFF2-40B4-BE49-F238E27FC236}">
                <a16:creationId xmlns:a16="http://schemas.microsoft.com/office/drawing/2014/main" id="{4B8C72B8-5199-AC12-3932-3BE4664536C6}"/>
              </a:ext>
            </a:extLst>
          </p:cNvPr>
          <p:cNvSpPr/>
          <p:nvPr/>
        </p:nvSpPr>
        <p:spPr>
          <a:xfrm>
            <a:off x="3283644" y="4189734"/>
            <a:ext cx="2497456" cy="21134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1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VS Code Server(</a:t>
            </a:r>
            <a:r>
              <a:rPr lang="en-US" altLang="ja-JP" sz="11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backend</a:t>
            </a:r>
            <a:r>
              <a:rPr kumimoji="1" lang="en-US" altLang="ja-JP" sz="11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1100" dirty="0">
              <a:solidFill>
                <a:schemeClr val="tx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3" name="四角形: 角を丸くする 272">
            <a:extLst>
              <a:ext uri="{FF2B5EF4-FFF2-40B4-BE49-F238E27FC236}">
                <a16:creationId xmlns:a16="http://schemas.microsoft.com/office/drawing/2014/main" id="{C26113C6-8438-F276-4351-A48932177A1A}"/>
              </a:ext>
            </a:extLst>
          </p:cNvPr>
          <p:cNvSpPr/>
          <p:nvPr/>
        </p:nvSpPr>
        <p:spPr>
          <a:xfrm>
            <a:off x="3237346" y="4459491"/>
            <a:ext cx="2497456" cy="41062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セキュリティ診断ツール</a:t>
            </a:r>
          </a:p>
        </p:txBody>
      </p:sp>
      <p:sp>
        <p:nvSpPr>
          <p:cNvPr id="309" name="テキスト ボックス 308">
            <a:extLst>
              <a:ext uri="{FF2B5EF4-FFF2-40B4-BE49-F238E27FC236}">
                <a16:creationId xmlns:a16="http://schemas.microsoft.com/office/drawing/2014/main" id="{4B34AAC5-CB32-F998-1C8A-F7A54C979CC9}"/>
              </a:ext>
            </a:extLst>
          </p:cNvPr>
          <p:cNvSpPr txBox="1"/>
          <p:nvPr/>
        </p:nvSpPr>
        <p:spPr>
          <a:xfrm>
            <a:off x="6251589" y="2190786"/>
            <a:ext cx="21170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WSL vEthernet</a:t>
            </a:r>
          </a:p>
          <a:p>
            <a:pPr algn="ctr"/>
            <a:r>
              <a:rPr lang="en-US" altLang="ja-JP" sz="1200" dirty="0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172.30.208.1</a:t>
            </a:r>
            <a:endParaRPr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1" name="四角形: 角を丸くする 310">
            <a:extLst>
              <a:ext uri="{FF2B5EF4-FFF2-40B4-BE49-F238E27FC236}">
                <a16:creationId xmlns:a16="http://schemas.microsoft.com/office/drawing/2014/main" id="{C6F3BE67-F257-836C-A28C-B67AE95F282C}"/>
              </a:ext>
            </a:extLst>
          </p:cNvPr>
          <p:cNvSpPr/>
          <p:nvPr/>
        </p:nvSpPr>
        <p:spPr>
          <a:xfrm>
            <a:off x="10067006" y="1833079"/>
            <a:ext cx="1528066" cy="338555"/>
          </a:xfrm>
          <a:prstGeom prst="roundRect">
            <a:avLst>
              <a:gd name="adj" fmla="val 20385"/>
            </a:avLst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n/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Windows11</a:t>
            </a:r>
            <a:endParaRPr lang="ja-JP" altLang="en-US" dirty="0">
              <a:ln/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Helvetica"/>
              <a:sym typeface="Helvetica"/>
              <a:rtl val="0"/>
            </a:endParaRPr>
          </a:p>
        </p:txBody>
      </p:sp>
      <p:sp>
        <p:nvSpPr>
          <p:cNvPr id="313" name="四角形: 角を丸くする 312">
            <a:extLst>
              <a:ext uri="{FF2B5EF4-FFF2-40B4-BE49-F238E27FC236}">
                <a16:creationId xmlns:a16="http://schemas.microsoft.com/office/drawing/2014/main" id="{4438E0C3-76DF-E6B3-4DCF-FD38F642A58D}"/>
              </a:ext>
            </a:extLst>
          </p:cNvPr>
          <p:cNvSpPr/>
          <p:nvPr/>
        </p:nvSpPr>
        <p:spPr>
          <a:xfrm>
            <a:off x="8746960" y="2125012"/>
            <a:ext cx="773438" cy="239666"/>
          </a:xfrm>
          <a:prstGeom prst="roundRect">
            <a:avLst>
              <a:gd name="adj" fmla="val 20385"/>
            </a:avLst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ln/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WSL</a:t>
            </a:r>
            <a:endParaRPr lang="ja-JP" altLang="en-US" sz="1400" dirty="0">
              <a:ln/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Helvetica"/>
              <a:sym typeface="Helvetica"/>
              <a:rtl val="0"/>
            </a:endParaRPr>
          </a:p>
        </p:txBody>
      </p:sp>
      <p:sp>
        <p:nvSpPr>
          <p:cNvPr id="314" name="四角形: 角を丸くする 313">
            <a:extLst>
              <a:ext uri="{FF2B5EF4-FFF2-40B4-BE49-F238E27FC236}">
                <a16:creationId xmlns:a16="http://schemas.microsoft.com/office/drawing/2014/main" id="{721266B8-B04F-5072-E220-1A4E8D59D45D}"/>
              </a:ext>
            </a:extLst>
          </p:cNvPr>
          <p:cNvSpPr/>
          <p:nvPr/>
        </p:nvSpPr>
        <p:spPr>
          <a:xfrm>
            <a:off x="10424992" y="3412345"/>
            <a:ext cx="1126090" cy="269046"/>
          </a:xfrm>
          <a:prstGeom prst="roundRect">
            <a:avLst>
              <a:gd name="adj" fmla="val 20385"/>
            </a:avLst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ln/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VirtualBox</a:t>
            </a:r>
            <a:endParaRPr lang="ja-JP" altLang="en-US" sz="1400" dirty="0">
              <a:ln/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Helvetica"/>
              <a:sym typeface="Helvetica"/>
              <a:rtl val="0"/>
            </a:endParaRPr>
          </a:p>
        </p:txBody>
      </p:sp>
      <p:sp>
        <p:nvSpPr>
          <p:cNvPr id="340" name="四角形: 角を丸くする 339">
            <a:extLst>
              <a:ext uri="{FF2B5EF4-FFF2-40B4-BE49-F238E27FC236}">
                <a16:creationId xmlns:a16="http://schemas.microsoft.com/office/drawing/2014/main" id="{C65CD44B-73B0-A845-7A70-E9D53E7A1A37}"/>
              </a:ext>
            </a:extLst>
          </p:cNvPr>
          <p:cNvSpPr/>
          <p:nvPr/>
        </p:nvSpPr>
        <p:spPr>
          <a:xfrm>
            <a:off x="3698649" y="3886315"/>
            <a:ext cx="1126090" cy="269046"/>
          </a:xfrm>
          <a:prstGeom prst="roundRect">
            <a:avLst>
              <a:gd name="adj" fmla="val 20385"/>
            </a:avLst>
          </a:prstGeom>
          <a:solidFill>
            <a:srgbClr val="DF290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>
                <a:ln/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kali Linux</a:t>
            </a:r>
            <a:endParaRPr lang="ja-JP" altLang="en-US" sz="1400" dirty="0">
              <a:ln/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Helvetica"/>
              <a:sym typeface="Helvetica"/>
              <a:rtl val="0"/>
            </a:endParaRPr>
          </a:p>
        </p:txBody>
      </p:sp>
      <p:cxnSp>
        <p:nvCxnSpPr>
          <p:cNvPr id="342" name="直線コネクタ 341">
            <a:extLst>
              <a:ext uri="{FF2B5EF4-FFF2-40B4-BE49-F238E27FC236}">
                <a16:creationId xmlns:a16="http://schemas.microsoft.com/office/drawing/2014/main" id="{85E695FE-AD37-4FB6-5BF3-4C4177773021}"/>
              </a:ext>
            </a:extLst>
          </p:cNvPr>
          <p:cNvCxnSpPr>
            <a:cxnSpLocks/>
          </p:cNvCxnSpPr>
          <p:nvPr/>
        </p:nvCxnSpPr>
        <p:spPr>
          <a:xfrm>
            <a:off x="2125903" y="5867043"/>
            <a:ext cx="659704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直線コネクタ 365">
            <a:extLst>
              <a:ext uri="{FF2B5EF4-FFF2-40B4-BE49-F238E27FC236}">
                <a16:creationId xmlns:a16="http://schemas.microsoft.com/office/drawing/2014/main" id="{040CFC1A-5716-0412-80F6-7D411BFE4522}"/>
              </a:ext>
            </a:extLst>
          </p:cNvPr>
          <p:cNvCxnSpPr>
            <a:cxnSpLocks/>
          </p:cNvCxnSpPr>
          <p:nvPr/>
        </p:nvCxnSpPr>
        <p:spPr>
          <a:xfrm>
            <a:off x="3778199" y="4943651"/>
            <a:ext cx="0" cy="9375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0" name="テキスト ボックス 369">
            <a:extLst>
              <a:ext uri="{FF2B5EF4-FFF2-40B4-BE49-F238E27FC236}">
                <a16:creationId xmlns:a16="http://schemas.microsoft.com/office/drawing/2014/main" id="{BC438268-E6CB-8850-A1AD-4B24C6DA1076}"/>
              </a:ext>
            </a:extLst>
          </p:cNvPr>
          <p:cNvSpPr txBox="1"/>
          <p:nvPr/>
        </p:nvSpPr>
        <p:spPr>
          <a:xfrm>
            <a:off x="3585244" y="4952332"/>
            <a:ext cx="40540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Bridge 10.77.0.3 (change according to the lab.) </a:t>
            </a:r>
            <a:endParaRPr lang="ja-JP" altLang="en-US" sz="1200" dirty="0">
              <a:ln/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Helvetica"/>
              <a:sym typeface="Helvetica"/>
              <a:rtl val="0"/>
            </a:endParaRPr>
          </a:p>
        </p:txBody>
      </p:sp>
      <p:cxnSp>
        <p:nvCxnSpPr>
          <p:cNvPr id="375" name="直線コネクタ 374">
            <a:extLst>
              <a:ext uri="{FF2B5EF4-FFF2-40B4-BE49-F238E27FC236}">
                <a16:creationId xmlns:a16="http://schemas.microsoft.com/office/drawing/2014/main" id="{C822B478-7D37-0A40-0E05-66AD4CB45794}"/>
              </a:ext>
            </a:extLst>
          </p:cNvPr>
          <p:cNvCxnSpPr>
            <a:cxnSpLocks/>
          </p:cNvCxnSpPr>
          <p:nvPr/>
        </p:nvCxnSpPr>
        <p:spPr>
          <a:xfrm>
            <a:off x="3828387" y="2963119"/>
            <a:ext cx="0" cy="94441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9" name="テキスト ボックス 378">
            <a:extLst>
              <a:ext uri="{FF2B5EF4-FFF2-40B4-BE49-F238E27FC236}">
                <a16:creationId xmlns:a16="http://schemas.microsoft.com/office/drawing/2014/main" id="{38CD84F4-2F98-0402-8952-4BC9A3AC86B9}"/>
              </a:ext>
            </a:extLst>
          </p:cNvPr>
          <p:cNvSpPr txBox="1"/>
          <p:nvPr/>
        </p:nvSpPr>
        <p:spPr>
          <a:xfrm>
            <a:off x="3649094" y="3411247"/>
            <a:ext cx="130813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100" dirty="0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Host Only </a:t>
            </a:r>
          </a:p>
          <a:p>
            <a:pPr algn="ctr"/>
            <a:r>
              <a:rPr lang="en-US" altLang="ja-JP" sz="1100" dirty="0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192.168.56.7 </a:t>
            </a:r>
            <a:endParaRPr lang="ja-JP" altLang="en-US" sz="1100" dirty="0">
              <a:ln/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Helvetica"/>
              <a:sym typeface="Helvetica"/>
              <a:rtl val="0"/>
            </a:endParaRPr>
          </a:p>
        </p:txBody>
      </p:sp>
      <p:cxnSp>
        <p:nvCxnSpPr>
          <p:cNvPr id="380" name="直線コネクタ 379">
            <a:extLst>
              <a:ext uri="{FF2B5EF4-FFF2-40B4-BE49-F238E27FC236}">
                <a16:creationId xmlns:a16="http://schemas.microsoft.com/office/drawing/2014/main" id="{A3317E04-F6A0-10DF-8267-22A9BDDDEA17}"/>
              </a:ext>
            </a:extLst>
          </p:cNvPr>
          <p:cNvCxnSpPr>
            <a:cxnSpLocks/>
          </p:cNvCxnSpPr>
          <p:nvPr/>
        </p:nvCxnSpPr>
        <p:spPr>
          <a:xfrm>
            <a:off x="2354513" y="5290891"/>
            <a:ext cx="0" cy="5903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5" name="テキスト ボックス 384">
            <a:extLst>
              <a:ext uri="{FF2B5EF4-FFF2-40B4-BE49-F238E27FC236}">
                <a16:creationId xmlns:a16="http://schemas.microsoft.com/office/drawing/2014/main" id="{7979D18A-2F3E-C6FF-C052-24E83F17CB9F}"/>
              </a:ext>
            </a:extLst>
          </p:cNvPr>
          <p:cNvSpPr txBox="1"/>
          <p:nvPr/>
        </p:nvSpPr>
        <p:spPr>
          <a:xfrm>
            <a:off x="154787" y="5065714"/>
            <a:ext cx="20284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EtherNet</a:t>
            </a:r>
          </a:p>
          <a:p>
            <a:pPr algn="ctr"/>
            <a:r>
              <a:rPr lang="en-US" altLang="ja-JP" sz="1200" dirty="0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10.77.0.1</a:t>
            </a:r>
          </a:p>
        </p:txBody>
      </p:sp>
      <p:cxnSp>
        <p:nvCxnSpPr>
          <p:cNvPr id="386" name="直線コネクタ 385">
            <a:extLst>
              <a:ext uri="{FF2B5EF4-FFF2-40B4-BE49-F238E27FC236}">
                <a16:creationId xmlns:a16="http://schemas.microsoft.com/office/drawing/2014/main" id="{43077E38-F49F-36FB-3F07-C9694781FFC7}"/>
              </a:ext>
            </a:extLst>
          </p:cNvPr>
          <p:cNvCxnSpPr>
            <a:cxnSpLocks/>
          </p:cNvCxnSpPr>
          <p:nvPr/>
        </p:nvCxnSpPr>
        <p:spPr>
          <a:xfrm>
            <a:off x="5319989" y="2763469"/>
            <a:ext cx="253485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7" name="四角形: 角を丸くする 386">
            <a:extLst>
              <a:ext uri="{FF2B5EF4-FFF2-40B4-BE49-F238E27FC236}">
                <a16:creationId xmlns:a16="http://schemas.microsoft.com/office/drawing/2014/main" id="{69C6E4EB-6F35-C326-CE7E-A6B43E3F3E9A}"/>
              </a:ext>
            </a:extLst>
          </p:cNvPr>
          <p:cNvSpPr/>
          <p:nvPr/>
        </p:nvSpPr>
        <p:spPr>
          <a:xfrm>
            <a:off x="3099387" y="2129742"/>
            <a:ext cx="2266900" cy="821802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97" name="グラフィックス 396" descr="サーバー 単色塗りつぶし">
            <a:extLst>
              <a:ext uri="{FF2B5EF4-FFF2-40B4-BE49-F238E27FC236}">
                <a16:creationId xmlns:a16="http://schemas.microsoft.com/office/drawing/2014/main" id="{B3408FBF-4D56-2536-BF8C-3D01E9F09B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85716" y="1195754"/>
            <a:ext cx="426712" cy="426712"/>
          </a:xfrm>
          <a:prstGeom prst="rect">
            <a:avLst/>
          </a:prstGeom>
        </p:spPr>
      </p:pic>
      <p:sp>
        <p:nvSpPr>
          <p:cNvPr id="400" name="テキスト ボックス 399">
            <a:extLst>
              <a:ext uri="{FF2B5EF4-FFF2-40B4-BE49-F238E27FC236}">
                <a16:creationId xmlns:a16="http://schemas.microsoft.com/office/drawing/2014/main" id="{47C579EE-7B5B-AC8E-586D-46C92D29BD7C}"/>
              </a:ext>
            </a:extLst>
          </p:cNvPr>
          <p:cNvSpPr txBox="1"/>
          <p:nvPr/>
        </p:nvSpPr>
        <p:spPr>
          <a:xfrm>
            <a:off x="4123376" y="698087"/>
            <a:ext cx="22078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Google/Microsoft</a:t>
            </a:r>
            <a:endParaRPr lang="ja-JP" altLang="en-US" sz="1200" dirty="0">
              <a:ln/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Helvetica"/>
              <a:sym typeface="Helvetica"/>
              <a:rtl val="0"/>
            </a:endParaRPr>
          </a:p>
        </p:txBody>
      </p:sp>
      <p:pic>
        <p:nvPicPr>
          <p:cNvPr id="402" name="グラフィックス 401" descr="コンピューター 単色塗りつぶし">
            <a:extLst>
              <a:ext uri="{FF2B5EF4-FFF2-40B4-BE49-F238E27FC236}">
                <a16:creationId xmlns:a16="http://schemas.microsoft.com/office/drawing/2014/main" id="{F4054970-E93C-553F-F18E-18D0569B94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4711" y="2444018"/>
            <a:ext cx="637886" cy="637886"/>
          </a:xfrm>
          <a:prstGeom prst="rect">
            <a:avLst/>
          </a:prstGeom>
        </p:spPr>
      </p:pic>
      <p:sp>
        <p:nvSpPr>
          <p:cNvPr id="404" name="テキスト ボックス 403">
            <a:extLst>
              <a:ext uri="{FF2B5EF4-FFF2-40B4-BE49-F238E27FC236}">
                <a16:creationId xmlns:a16="http://schemas.microsoft.com/office/drawing/2014/main" id="{9615F2F1-2142-30C6-B1FA-5B1104A4B8F0}"/>
              </a:ext>
            </a:extLst>
          </p:cNvPr>
          <p:cNvSpPr txBox="1"/>
          <p:nvPr/>
        </p:nvSpPr>
        <p:spPr>
          <a:xfrm>
            <a:off x="7406470" y="2519095"/>
            <a:ext cx="3181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Ubuntu</a:t>
            </a:r>
          </a:p>
          <a:p>
            <a:pPr algn="ctr"/>
            <a:r>
              <a:rPr lang="en-US" altLang="ja-JP" sz="1200" dirty="0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TinyProxy</a:t>
            </a:r>
            <a:endParaRPr lang="ja-JP" altLang="en-US" sz="1200" dirty="0">
              <a:ln/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Helvetica"/>
              <a:sym typeface="Helvetica"/>
              <a:rtl val="0"/>
            </a:endParaRPr>
          </a:p>
        </p:txBody>
      </p:sp>
      <p:sp>
        <p:nvSpPr>
          <p:cNvPr id="405" name="テキスト ボックス 404">
            <a:extLst>
              <a:ext uri="{FF2B5EF4-FFF2-40B4-BE49-F238E27FC236}">
                <a16:creationId xmlns:a16="http://schemas.microsoft.com/office/drawing/2014/main" id="{063996A7-3261-5C0B-6876-C1E46DAA1CE4}"/>
              </a:ext>
            </a:extLst>
          </p:cNvPr>
          <p:cNvSpPr txBox="1"/>
          <p:nvPr/>
        </p:nvSpPr>
        <p:spPr>
          <a:xfrm>
            <a:off x="2862448" y="2211888"/>
            <a:ext cx="21170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Windows</a:t>
            </a:r>
          </a:p>
          <a:p>
            <a:pPr algn="ctr"/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仮想ネットワーク</a:t>
            </a:r>
            <a:endParaRPr lang="en-US" altLang="ja-JP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ja-JP" altLang="en-US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スタック</a:t>
            </a:r>
          </a:p>
        </p:txBody>
      </p:sp>
      <p:sp>
        <p:nvSpPr>
          <p:cNvPr id="406" name="四角形: 角を丸くする 405">
            <a:extLst>
              <a:ext uri="{FF2B5EF4-FFF2-40B4-BE49-F238E27FC236}">
                <a16:creationId xmlns:a16="http://schemas.microsoft.com/office/drawing/2014/main" id="{1CD7DD53-72AD-3A76-F3B4-D56B25DB12FA}"/>
              </a:ext>
            </a:extLst>
          </p:cNvPr>
          <p:cNvSpPr/>
          <p:nvPr/>
        </p:nvSpPr>
        <p:spPr>
          <a:xfrm>
            <a:off x="798653" y="2225041"/>
            <a:ext cx="1224287" cy="655320"/>
          </a:xfrm>
          <a:prstGeom prst="roundRect">
            <a:avLst>
              <a:gd name="adj" fmla="val 5380"/>
            </a:avLst>
          </a:prstGeom>
          <a:solidFill>
            <a:schemeClr val="bg1"/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7" name="テキスト ボックス 406">
            <a:extLst>
              <a:ext uri="{FF2B5EF4-FFF2-40B4-BE49-F238E27FC236}">
                <a16:creationId xmlns:a16="http://schemas.microsoft.com/office/drawing/2014/main" id="{1F570580-5BB6-5E77-9846-C5A5D309C66B}"/>
              </a:ext>
            </a:extLst>
          </p:cNvPr>
          <p:cNvSpPr txBox="1"/>
          <p:nvPr/>
        </p:nvSpPr>
        <p:spPr>
          <a:xfrm>
            <a:off x="742916" y="2373666"/>
            <a:ext cx="13398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VSCode</a:t>
            </a:r>
          </a:p>
          <a:p>
            <a:pPr algn="ctr"/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(client)</a:t>
            </a:r>
            <a:endParaRPr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408" name="直線コネクタ 407">
            <a:extLst>
              <a:ext uri="{FF2B5EF4-FFF2-40B4-BE49-F238E27FC236}">
                <a16:creationId xmlns:a16="http://schemas.microsoft.com/office/drawing/2014/main" id="{21B62EF7-D951-39EF-BA57-FC163A286372}"/>
              </a:ext>
            </a:extLst>
          </p:cNvPr>
          <p:cNvCxnSpPr>
            <a:cxnSpLocks/>
          </p:cNvCxnSpPr>
          <p:nvPr/>
        </p:nvCxnSpPr>
        <p:spPr>
          <a:xfrm>
            <a:off x="2022940" y="2542113"/>
            <a:ext cx="10972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0" name="テキスト ボックス 409">
            <a:extLst>
              <a:ext uri="{FF2B5EF4-FFF2-40B4-BE49-F238E27FC236}">
                <a16:creationId xmlns:a16="http://schemas.microsoft.com/office/drawing/2014/main" id="{D60001D4-A730-F267-63C0-F9C6D4DC36E2}"/>
              </a:ext>
            </a:extLst>
          </p:cNvPr>
          <p:cNvSpPr txBox="1"/>
          <p:nvPr/>
        </p:nvSpPr>
        <p:spPr>
          <a:xfrm>
            <a:off x="1817103" y="3137077"/>
            <a:ext cx="800197" cy="276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SSH</a:t>
            </a:r>
            <a:endParaRPr lang="ja-JP" altLang="en-US" sz="1200" dirty="0">
              <a:ln/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Helvetica"/>
              <a:sym typeface="Helvetica"/>
              <a:rtl val="0"/>
            </a:endParaRPr>
          </a:p>
        </p:txBody>
      </p:sp>
      <p:cxnSp>
        <p:nvCxnSpPr>
          <p:cNvPr id="412" name="直線コネクタ 411">
            <a:extLst>
              <a:ext uri="{FF2B5EF4-FFF2-40B4-BE49-F238E27FC236}">
                <a16:creationId xmlns:a16="http://schemas.microsoft.com/office/drawing/2014/main" id="{A253CB00-FBA4-71FE-3F34-E30CF61F44E3}"/>
              </a:ext>
            </a:extLst>
          </p:cNvPr>
          <p:cNvCxnSpPr>
            <a:cxnSpLocks/>
          </p:cNvCxnSpPr>
          <p:nvPr/>
        </p:nvCxnSpPr>
        <p:spPr>
          <a:xfrm>
            <a:off x="2022940" y="2823376"/>
            <a:ext cx="1615440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3" name="直線コネクタ 412">
            <a:extLst>
              <a:ext uri="{FF2B5EF4-FFF2-40B4-BE49-F238E27FC236}">
                <a16:creationId xmlns:a16="http://schemas.microsoft.com/office/drawing/2014/main" id="{63E1B606-FA54-CF22-1BB8-DDE7C6045078}"/>
              </a:ext>
            </a:extLst>
          </p:cNvPr>
          <p:cNvCxnSpPr>
            <a:cxnSpLocks/>
          </p:cNvCxnSpPr>
          <p:nvPr/>
        </p:nvCxnSpPr>
        <p:spPr>
          <a:xfrm>
            <a:off x="3623140" y="2804160"/>
            <a:ext cx="0" cy="1377696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直線コネクタ 414">
            <a:extLst>
              <a:ext uri="{FF2B5EF4-FFF2-40B4-BE49-F238E27FC236}">
                <a16:creationId xmlns:a16="http://schemas.microsoft.com/office/drawing/2014/main" id="{94923130-D017-E79A-42E1-7E9685E78224}"/>
              </a:ext>
            </a:extLst>
          </p:cNvPr>
          <p:cNvCxnSpPr>
            <a:cxnSpLocks/>
          </p:cNvCxnSpPr>
          <p:nvPr/>
        </p:nvCxnSpPr>
        <p:spPr>
          <a:xfrm>
            <a:off x="5019388" y="2840736"/>
            <a:ext cx="0" cy="1316736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直線コネクタ 415">
            <a:extLst>
              <a:ext uri="{FF2B5EF4-FFF2-40B4-BE49-F238E27FC236}">
                <a16:creationId xmlns:a16="http://schemas.microsoft.com/office/drawing/2014/main" id="{4EB3D938-E44A-74BF-8DC1-3D301370A5B6}"/>
              </a:ext>
            </a:extLst>
          </p:cNvPr>
          <p:cNvCxnSpPr>
            <a:cxnSpLocks/>
          </p:cNvCxnSpPr>
          <p:nvPr/>
        </p:nvCxnSpPr>
        <p:spPr>
          <a:xfrm flipH="1">
            <a:off x="4992624" y="2865120"/>
            <a:ext cx="2882476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直線コネクタ 417">
            <a:extLst>
              <a:ext uri="{FF2B5EF4-FFF2-40B4-BE49-F238E27FC236}">
                <a16:creationId xmlns:a16="http://schemas.microsoft.com/office/drawing/2014/main" id="{2DFBBA70-BEBB-97A9-FCB3-6F22738BC35F}"/>
              </a:ext>
            </a:extLst>
          </p:cNvPr>
          <p:cNvCxnSpPr>
            <a:cxnSpLocks/>
          </p:cNvCxnSpPr>
          <p:nvPr/>
        </p:nvCxnSpPr>
        <p:spPr>
          <a:xfrm flipH="1">
            <a:off x="5009322" y="2651760"/>
            <a:ext cx="2865778" cy="0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直線コネクタ 418">
            <a:extLst>
              <a:ext uri="{FF2B5EF4-FFF2-40B4-BE49-F238E27FC236}">
                <a16:creationId xmlns:a16="http://schemas.microsoft.com/office/drawing/2014/main" id="{4808B9DC-50FF-9B66-3828-B19E46490158}"/>
              </a:ext>
            </a:extLst>
          </p:cNvPr>
          <p:cNvCxnSpPr>
            <a:cxnSpLocks/>
          </p:cNvCxnSpPr>
          <p:nvPr/>
        </p:nvCxnSpPr>
        <p:spPr>
          <a:xfrm>
            <a:off x="5033170" y="954593"/>
            <a:ext cx="0" cy="1697167"/>
          </a:xfrm>
          <a:prstGeom prst="line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7" name="テキスト ボックス 306">
            <a:extLst>
              <a:ext uri="{FF2B5EF4-FFF2-40B4-BE49-F238E27FC236}">
                <a16:creationId xmlns:a16="http://schemas.microsoft.com/office/drawing/2014/main" id="{2CBFE6B1-BE4D-7A94-F8BB-7C3A36141502}"/>
              </a:ext>
            </a:extLst>
          </p:cNvPr>
          <p:cNvSpPr txBox="1"/>
          <p:nvPr/>
        </p:nvSpPr>
        <p:spPr>
          <a:xfrm>
            <a:off x="2068557" y="1202565"/>
            <a:ext cx="18380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Home Router</a:t>
            </a:r>
          </a:p>
          <a:p>
            <a:pPr algn="ctr"/>
            <a:r>
              <a:rPr lang="en-US" altLang="ja-JP" sz="1200" dirty="0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192.168.12.1</a:t>
            </a:r>
            <a:endParaRPr lang="ja-JP" altLang="en-US" sz="1200" dirty="0">
              <a:ln/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Helvetica"/>
              <a:sym typeface="Helvetica"/>
              <a:rtl val="0"/>
            </a:endParaRPr>
          </a:p>
        </p:txBody>
      </p:sp>
      <p:sp>
        <p:nvSpPr>
          <p:cNvPr id="395" name="テキスト ボックス 394">
            <a:extLst>
              <a:ext uri="{FF2B5EF4-FFF2-40B4-BE49-F238E27FC236}">
                <a16:creationId xmlns:a16="http://schemas.microsoft.com/office/drawing/2014/main" id="{B882FB9C-1348-100C-0A04-DE38482C3BF5}"/>
              </a:ext>
            </a:extLst>
          </p:cNvPr>
          <p:cNvSpPr txBox="1"/>
          <p:nvPr/>
        </p:nvSpPr>
        <p:spPr>
          <a:xfrm>
            <a:off x="3780273" y="1712019"/>
            <a:ext cx="13105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WiFi</a:t>
            </a:r>
          </a:p>
          <a:p>
            <a:r>
              <a:rPr lang="en-US" altLang="ja-JP" sz="1200" dirty="0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192.168.12.32 </a:t>
            </a:r>
            <a:endParaRPr lang="ja-JP" altLang="en-US" sz="1200" dirty="0">
              <a:ln/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Helvetica"/>
              <a:sym typeface="Helvetica"/>
              <a:rtl val="0"/>
            </a:endParaRPr>
          </a:p>
        </p:txBody>
      </p:sp>
      <p:sp>
        <p:nvSpPr>
          <p:cNvPr id="391" name="テキスト ボックス 390">
            <a:extLst>
              <a:ext uri="{FF2B5EF4-FFF2-40B4-BE49-F238E27FC236}">
                <a16:creationId xmlns:a16="http://schemas.microsoft.com/office/drawing/2014/main" id="{40BEB1FB-1CE1-2DB1-7B00-A87492F645B5}"/>
              </a:ext>
            </a:extLst>
          </p:cNvPr>
          <p:cNvSpPr txBox="1"/>
          <p:nvPr/>
        </p:nvSpPr>
        <p:spPr>
          <a:xfrm>
            <a:off x="3688106" y="2934268"/>
            <a:ext cx="1364077" cy="459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Host Only </a:t>
            </a:r>
          </a:p>
          <a:p>
            <a:pPr algn="ctr"/>
            <a:r>
              <a:rPr lang="en-US" altLang="ja-JP" sz="1200" dirty="0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192.168.56.1 </a:t>
            </a:r>
            <a:endParaRPr lang="ja-JP" altLang="en-US" sz="1200" dirty="0">
              <a:ln/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Helvetica"/>
              <a:sym typeface="Helvetica"/>
              <a:rtl val="0"/>
            </a:endParaRPr>
          </a:p>
        </p:txBody>
      </p:sp>
      <p:sp>
        <p:nvSpPr>
          <p:cNvPr id="423" name="テキスト ボックス 422">
            <a:extLst>
              <a:ext uri="{FF2B5EF4-FFF2-40B4-BE49-F238E27FC236}">
                <a16:creationId xmlns:a16="http://schemas.microsoft.com/office/drawing/2014/main" id="{F4DA9913-2B2E-2844-3EC6-3701698F8DF8}"/>
              </a:ext>
            </a:extLst>
          </p:cNvPr>
          <p:cNvSpPr txBox="1"/>
          <p:nvPr/>
        </p:nvSpPr>
        <p:spPr>
          <a:xfrm>
            <a:off x="1992459" y="2322068"/>
            <a:ext cx="15184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1200" dirty="0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localhost</a:t>
            </a:r>
          </a:p>
          <a:p>
            <a:pPr algn="ctr"/>
            <a:r>
              <a:rPr lang="en-US" altLang="ja-JP" sz="1200" dirty="0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(OS</a:t>
            </a:r>
            <a:r>
              <a:rPr lang="ja-JP" altLang="en-US" sz="1200" dirty="0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内部</a:t>
            </a:r>
          </a:p>
        </p:txBody>
      </p:sp>
      <p:pic>
        <p:nvPicPr>
          <p:cNvPr id="245" name="グラフィックス 244" descr="雲 枠線">
            <a:extLst>
              <a:ext uri="{FF2B5EF4-FFF2-40B4-BE49-F238E27FC236}">
                <a16:creationId xmlns:a16="http://schemas.microsoft.com/office/drawing/2014/main" id="{FBE078CE-4379-D6F3-2F2F-CF7C4E73FD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04460" y="398926"/>
            <a:ext cx="1625120" cy="902482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CF3DCF7-18B0-7A29-F815-2E15AD5D3BA6}"/>
              </a:ext>
            </a:extLst>
          </p:cNvPr>
          <p:cNvSpPr txBox="1"/>
          <p:nvPr/>
        </p:nvSpPr>
        <p:spPr>
          <a:xfrm>
            <a:off x="1688632" y="136098"/>
            <a:ext cx="8230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The configuration diagram of Security Lab. powered by AI agent: Antigravity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3DFA7E9-2984-AF69-516C-50CFD98A0A48}"/>
              </a:ext>
            </a:extLst>
          </p:cNvPr>
          <p:cNvSpPr txBox="1"/>
          <p:nvPr/>
        </p:nvSpPr>
        <p:spPr>
          <a:xfrm>
            <a:off x="6065135" y="681127"/>
            <a:ext cx="5733478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Users can instruct the AI agent to perform a vulnerability assessment using Kali Linux tools against targets on an internal network.</a:t>
            </a:r>
          </a:p>
          <a:p>
            <a:r>
              <a:rPr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This architecture is designed to prevent any diagnostic packets originating from Kali Linux from unintentionally leaking to the internet.</a:t>
            </a:r>
            <a:endParaRPr lang="en-US" altLang="ja-JP" sz="10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2A95FC5-0B88-0623-CF54-FDA27EF3C000}"/>
              </a:ext>
            </a:extLst>
          </p:cNvPr>
          <p:cNvSpPr txBox="1"/>
          <p:nvPr/>
        </p:nvSpPr>
        <p:spPr>
          <a:xfrm>
            <a:off x="5971066" y="3985790"/>
            <a:ext cx="33118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 err="1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EtherNet</a:t>
            </a:r>
            <a:r>
              <a:rPr lang="en-US" altLang="ja-JP" sz="1200" dirty="0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/IP lab. 	10.7.1.0/24</a:t>
            </a:r>
            <a:endParaRPr lang="ja-JP" altLang="en-US" sz="1200" dirty="0">
              <a:ln/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Helvetica"/>
              <a:sym typeface="Helvetica"/>
              <a:rtl val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D28ABBF-5630-E915-C407-C58737016387}"/>
              </a:ext>
            </a:extLst>
          </p:cNvPr>
          <p:cNvSpPr txBox="1"/>
          <p:nvPr/>
        </p:nvSpPr>
        <p:spPr>
          <a:xfrm>
            <a:off x="5971066" y="4308922"/>
            <a:ext cx="32192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Modbus lab. 	10.7.2.0/24</a:t>
            </a:r>
            <a:endParaRPr lang="ja-JP" altLang="en-US" sz="1200" dirty="0">
              <a:ln/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Helvetica"/>
              <a:sym typeface="Helvetica"/>
              <a:rtl val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4A27A23-C880-E627-4B96-4909A97C8EF2}"/>
              </a:ext>
            </a:extLst>
          </p:cNvPr>
          <p:cNvSpPr txBox="1"/>
          <p:nvPr/>
        </p:nvSpPr>
        <p:spPr>
          <a:xfrm>
            <a:off x="5971066" y="4590567"/>
            <a:ext cx="31034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 err="1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Bacnet</a:t>
            </a:r>
            <a:r>
              <a:rPr lang="ja-JP" altLang="en-US" sz="1200" dirty="0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　</a:t>
            </a:r>
            <a:r>
              <a:rPr lang="en-US" altLang="ja-JP" sz="1200" dirty="0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lab. 	10.7.3.0/24</a:t>
            </a:r>
            <a:endParaRPr lang="ja-JP" altLang="en-US" sz="1200" dirty="0">
              <a:ln/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Helvetica"/>
              <a:sym typeface="Helvetica"/>
              <a:rtl val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F28C89C-583E-81DB-8CB8-A9B50FFA1A3A}"/>
              </a:ext>
            </a:extLst>
          </p:cNvPr>
          <p:cNvSpPr txBox="1"/>
          <p:nvPr/>
        </p:nvSpPr>
        <p:spPr>
          <a:xfrm>
            <a:off x="5971066" y="3684849"/>
            <a:ext cx="31382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Vuln. test lab. 	10.7.1.0/24</a:t>
            </a:r>
            <a:endParaRPr lang="ja-JP" altLang="en-US" sz="1200" dirty="0">
              <a:ln/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Helvetica"/>
              <a:sym typeface="Helvetica"/>
              <a:rtl val="0"/>
            </a:endParaRPr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86A0ACDA-A041-316D-318B-E310A174BA98}"/>
              </a:ext>
            </a:extLst>
          </p:cNvPr>
          <p:cNvGrpSpPr/>
          <p:nvPr/>
        </p:nvGrpSpPr>
        <p:grpSpPr>
          <a:xfrm>
            <a:off x="5945022" y="3934961"/>
            <a:ext cx="2932760" cy="891253"/>
            <a:chOff x="5945022" y="3934961"/>
            <a:chExt cx="2712841" cy="891253"/>
          </a:xfrm>
        </p:grpSpPr>
        <p:cxnSp>
          <p:nvCxnSpPr>
            <p:cNvPr id="356" name="直線コネクタ 355">
              <a:extLst>
                <a:ext uri="{FF2B5EF4-FFF2-40B4-BE49-F238E27FC236}">
                  <a16:creationId xmlns:a16="http://schemas.microsoft.com/office/drawing/2014/main" id="{00FAA6A1-A621-C622-9B53-0320D551A299}"/>
                </a:ext>
              </a:extLst>
            </p:cNvPr>
            <p:cNvCxnSpPr>
              <a:cxnSpLocks/>
            </p:cNvCxnSpPr>
            <p:nvPr/>
          </p:nvCxnSpPr>
          <p:spPr>
            <a:xfrm>
              <a:off x="5945022" y="3934961"/>
              <a:ext cx="268969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F2DB9060-1A96-83E8-4F0A-7D6D3514FEDD}"/>
                </a:ext>
              </a:extLst>
            </p:cNvPr>
            <p:cNvCxnSpPr>
              <a:cxnSpLocks/>
            </p:cNvCxnSpPr>
            <p:nvPr/>
          </p:nvCxnSpPr>
          <p:spPr>
            <a:xfrm>
              <a:off x="5945022" y="4559997"/>
              <a:ext cx="268969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69DD9D0A-CB90-D392-E4D5-87351B144859}"/>
                </a:ext>
              </a:extLst>
            </p:cNvPr>
            <p:cNvCxnSpPr>
              <a:cxnSpLocks/>
            </p:cNvCxnSpPr>
            <p:nvPr/>
          </p:nvCxnSpPr>
          <p:spPr>
            <a:xfrm>
              <a:off x="5968171" y="4826214"/>
              <a:ext cx="268969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F2785C78-9277-A13A-6C19-EDF0B9F6F211}"/>
                </a:ext>
              </a:extLst>
            </p:cNvPr>
            <p:cNvCxnSpPr>
              <a:cxnSpLocks/>
            </p:cNvCxnSpPr>
            <p:nvPr/>
          </p:nvCxnSpPr>
          <p:spPr>
            <a:xfrm>
              <a:off x="5945022" y="4224331"/>
              <a:ext cx="268969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E2CDDD2-5AF7-7F81-BA9B-CE745B5F1FFB}"/>
              </a:ext>
            </a:extLst>
          </p:cNvPr>
          <p:cNvSpPr txBox="1"/>
          <p:nvPr/>
        </p:nvSpPr>
        <p:spPr>
          <a:xfrm>
            <a:off x="8750919" y="5932270"/>
            <a:ext cx="33118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 err="1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EtherNet</a:t>
            </a:r>
            <a:r>
              <a:rPr lang="en-US" altLang="ja-JP" sz="1200" dirty="0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/IP lab. 	10.77.1.0/24</a:t>
            </a:r>
            <a:endParaRPr lang="ja-JP" altLang="en-US" sz="1200" dirty="0">
              <a:ln/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Helvetica"/>
              <a:sym typeface="Helvetica"/>
              <a:rtl val="0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0FCBCBE4-5AC3-EE52-252E-48EFC5E220EF}"/>
              </a:ext>
            </a:extLst>
          </p:cNvPr>
          <p:cNvSpPr txBox="1"/>
          <p:nvPr/>
        </p:nvSpPr>
        <p:spPr>
          <a:xfrm>
            <a:off x="8739344" y="6116502"/>
            <a:ext cx="32192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Modbus lab. 	10.77.2.0/24</a:t>
            </a:r>
            <a:endParaRPr lang="ja-JP" altLang="en-US" sz="1200" dirty="0">
              <a:ln/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Helvetica"/>
              <a:sym typeface="Helvetica"/>
              <a:rtl val="0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D2859A3B-60E1-4B57-961E-42F0560794C8}"/>
              </a:ext>
            </a:extLst>
          </p:cNvPr>
          <p:cNvSpPr txBox="1"/>
          <p:nvPr/>
        </p:nvSpPr>
        <p:spPr>
          <a:xfrm>
            <a:off x="8739344" y="6317122"/>
            <a:ext cx="31034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 err="1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Bacnet</a:t>
            </a:r>
            <a:r>
              <a:rPr lang="ja-JP" altLang="en-US" sz="1200" dirty="0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　</a:t>
            </a:r>
            <a:r>
              <a:rPr lang="en-US" altLang="ja-JP" sz="1200" dirty="0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lab. 	10.77.3.0/24</a:t>
            </a:r>
            <a:endParaRPr lang="ja-JP" altLang="en-US" sz="1200" dirty="0">
              <a:ln/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Helvetica"/>
              <a:sym typeface="Helvetica"/>
              <a:rtl val="0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F085E96F-CA89-398C-3A11-FEA51E4B1B16}"/>
              </a:ext>
            </a:extLst>
          </p:cNvPr>
          <p:cNvSpPr txBox="1"/>
          <p:nvPr/>
        </p:nvSpPr>
        <p:spPr>
          <a:xfrm>
            <a:off x="8750919" y="5723929"/>
            <a:ext cx="31382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200" dirty="0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Vuln. test lab. 	10.77.1.0/24</a:t>
            </a:r>
            <a:endParaRPr lang="ja-JP" altLang="en-US" sz="1200" dirty="0">
              <a:ln/>
              <a:solidFill>
                <a:srgbClr val="000000"/>
              </a:solidFill>
              <a:latin typeface="Meiryo UI" panose="020B0604030504040204" pitchFamily="50" charset="-128"/>
              <a:ea typeface="Meiryo UI" panose="020B0604030504040204" pitchFamily="50" charset="-128"/>
              <a:cs typeface="Helvetica"/>
              <a:sym typeface="Helvetica"/>
              <a:rtl val="0"/>
            </a:endParaRP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6993AEE0-DD47-B10E-1FD8-ED3A47A7C767}"/>
              </a:ext>
            </a:extLst>
          </p:cNvPr>
          <p:cNvCxnSpPr>
            <a:cxnSpLocks/>
          </p:cNvCxnSpPr>
          <p:nvPr/>
        </p:nvCxnSpPr>
        <p:spPr>
          <a:xfrm>
            <a:off x="2125903" y="6075387"/>
            <a:ext cx="6597042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C974D702-E75F-8D23-CF26-F7D494438F0F}"/>
              </a:ext>
            </a:extLst>
          </p:cNvPr>
          <p:cNvCxnSpPr>
            <a:cxnSpLocks/>
          </p:cNvCxnSpPr>
          <p:nvPr/>
        </p:nvCxnSpPr>
        <p:spPr>
          <a:xfrm>
            <a:off x="2125903" y="6272157"/>
            <a:ext cx="6597042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012E9125-9580-31A2-5F04-06CEFA06582D}"/>
              </a:ext>
            </a:extLst>
          </p:cNvPr>
          <p:cNvCxnSpPr>
            <a:cxnSpLocks/>
          </p:cNvCxnSpPr>
          <p:nvPr/>
        </p:nvCxnSpPr>
        <p:spPr>
          <a:xfrm>
            <a:off x="2125903" y="6468926"/>
            <a:ext cx="6597042" cy="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B400E6F1-BB76-2825-D1B7-89CAC418DA6C}"/>
              </a:ext>
            </a:extLst>
          </p:cNvPr>
          <p:cNvSpPr txBox="1"/>
          <p:nvPr/>
        </p:nvSpPr>
        <p:spPr>
          <a:xfrm>
            <a:off x="196768" y="5457992"/>
            <a:ext cx="21876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50" dirty="0">
                <a:ln/>
                <a:solidFill>
                  <a:srgbClr val="00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Helvetica"/>
                <a:sym typeface="Helvetica"/>
                <a:rtl val="0"/>
              </a:rPr>
              <a:t>(change according to the lab.) </a:t>
            </a:r>
            <a:endParaRPr lang="ja-JP" altLang="en-US" sz="1050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26A11EF2-A95F-CB43-8828-F339FF3997A8}"/>
              </a:ext>
            </a:extLst>
          </p:cNvPr>
          <p:cNvSpPr txBox="1"/>
          <p:nvPr/>
        </p:nvSpPr>
        <p:spPr>
          <a:xfrm>
            <a:off x="3541853" y="6619540"/>
            <a:ext cx="285847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100" b="1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Seched</a:t>
            </a:r>
            <a:r>
              <a:rPr kumimoji="1" lang="en-US" altLang="ja-JP" sz="11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 Insights  </a:t>
            </a:r>
            <a:r>
              <a:rPr kumimoji="1" lang="en-US" altLang="ja-JP" sz="1100" b="1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AllRight</a:t>
            </a:r>
            <a:r>
              <a:rPr kumimoji="1" lang="en-US" altLang="ja-JP" sz="11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 Reserved.</a:t>
            </a:r>
            <a:endParaRPr kumimoji="1" lang="ja-JP" altLang="en-US" sz="11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27584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1704</TotalTime>
  <Words>193</Words>
  <Application>Microsoft Office PowerPoint</Application>
  <PresentationFormat>ワイド画面</PresentationFormat>
  <Paragraphs>47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Meiryo UI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米田健</dc:creator>
  <cp:lastModifiedBy>健（個人） 米田</cp:lastModifiedBy>
  <cp:revision>16</cp:revision>
  <cp:lastPrinted>2026-03-25T01:51:26Z</cp:lastPrinted>
  <dcterms:created xsi:type="dcterms:W3CDTF">2026-03-24T05:50:33Z</dcterms:created>
  <dcterms:modified xsi:type="dcterms:W3CDTF">2026-04-26T11:35:58Z</dcterms:modified>
</cp:coreProperties>
</file>